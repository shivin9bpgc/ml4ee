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5143500" cx="9144000"/>
  <p:notesSz cx="6858000" cy="9144000"/>
  <p:embeddedFontLst>
    <p:embeddedFont>
      <p:font typeface="PT Sans Narrow"/>
      <p:regular r:id="rId45"/>
      <p:bold r:id="rId46"/>
    </p:embeddedFont>
    <p:embeddedFont>
      <p:font typeface="Open Sans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A7BC30-FBA2-40E7-BD92-69E3CA49C975}">
  <a:tblStyle styleId="{EFA7BC30-FBA2-40E7-BD92-69E3CA49C97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E8ECF4"/>
          </a:solidFill>
        </a:fill>
      </a:tcStyle>
    </a:lastRow>
    <a:seCell>
      <a:tcTxStyle/>
    </a:seCell>
    <a:swCell>
      <a:tcTxStyle/>
    </a:swCell>
    <a:firstRow>
      <a:tcTxStyle b="on" i="off"/>
      <a:tcStyle>
        <a:fill>
          <a:solidFill>
            <a:srgbClr val="E8ECF4"/>
          </a:solidFill>
        </a:fill>
      </a:tcStyle>
    </a:firstRow>
    <a:neCell>
      <a:tcTxStyle/>
    </a:neCell>
    <a:nwCell>
      <a:tcTxStyle/>
    </a:nwCell>
  </a:tblStyle>
  <a:tblStyle styleId="{3DFF0213-A29E-42BF-AE5D-BAA05291C3D5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8993AB5B-174E-4A35-80BA-62F0E6D66093}" styleName="Table_2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PTSansNarrow-bold.fntdata"/><Relationship Id="rId45" Type="http://schemas.openxmlformats.org/officeDocument/2006/relationships/font" Target="fonts/PTSans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OpenSans-bold.fntdata"/><Relationship Id="rId47" Type="http://schemas.openxmlformats.org/officeDocument/2006/relationships/font" Target="fonts/OpenSans-regular.fntdata"/><Relationship Id="rId49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OpenSans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690496b45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690496b45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2ce453c17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82ce453c17_2_84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2ce453c1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82ce453c17_0_10:notes"/>
          <p:cNvSpPr/>
          <p:nvPr>
            <p:ph idx="2" type="sldImg"/>
          </p:nvPr>
        </p:nvSpPr>
        <p:spPr>
          <a:xfrm>
            <a:off x="416201" y="685250"/>
            <a:ext cx="6025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2ce453c17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82ce453c17_2_89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2ce453c17_2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82ce453c17_2_102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2ce453c17_2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82ce453c17_2_10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2ce453c17_2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82ce453c17_2_131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2ce453c17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82ce453c17_2_13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2ce453c17_2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82ce453c17_2_142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2ce453c17_2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82ce453c17_2_165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82ce453c17_2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82ce453c17_2_190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2ce453c17_2_195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82ce453c17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5" name="Google Shape;275;g382ce453c17_2_1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82ce453c17_2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82ce453c17_2_203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82ce453c17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g382ce453c17_2_229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82ce453c17_2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g382ce453c17_2_25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82ce453c17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82ce453c17_2_285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82ce453c17_2_3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g382ce453c17_2_313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82ce453c17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82ce453c17_2_319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82ce453c17_2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82ce453c17_2_324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82ce453c17_2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82ce453c17_2_335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82ce453c17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82ce453c17_2_34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82ce453c17_2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82ce453c17_2_352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82ce453c17_2_3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382ce453c17_2_359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82ce453c17_2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82ce453c17_2_366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82ce453c17_2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g382ce453c17_2_37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3799869689e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g3799869689e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799869689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9" name="Google Shape;489;g3799869689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793e53b11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793e53b11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82ce453c17_2_387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g382ce453c17_2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75" lIns="91175" spcFirstLastPara="1" rIns="91175" wrap="square" tIns="45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07" name="Google Shape;507;g382ce453c17_2_3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575" lIns="91175" spcFirstLastPara="1" rIns="91175" wrap="square" tIns="45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82ce453c17_2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g382ce453c17_2_394:notes"/>
          <p:cNvSpPr/>
          <p:nvPr>
            <p:ph idx="2" type="sldImg"/>
          </p:nvPr>
        </p:nvSpPr>
        <p:spPr>
          <a:xfrm>
            <a:off x="416201" y="685250"/>
            <a:ext cx="6025500" cy="3429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382ce453c17_2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g382ce453c17_2_412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93e53b11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793e53b11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82ce453c17_2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82ce453c17_2_448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82ce453c17_2_4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g382ce453c17_2_456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82ce453c17_2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9" name="Google Shape;569;g382ce453c17_2_461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82ce453c17_2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89800" lIns="89800" spcFirstLastPara="1" rIns="89800" wrap="square" tIns="898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g382ce453c17_2_469:notes"/>
          <p:cNvSpPr/>
          <p:nvPr>
            <p:ph idx="2" type="sldImg"/>
          </p:nvPr>
        </p:nvSpPr>
        <p:spPr>
          <a:xfrm>
            <a:off x="416201" y="685250"/>
            <a:ext cx="6025598" cy="342939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4a51abb941121265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4a51abb941121265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ctrTitle"/>
          </p:nvPr>
        </p:nvSpPr>
        <p:spPr>
          <a:xfrm>
            <a:off x="685800" y="120015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371600" y="2516981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30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7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90" name="Google Shape;90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8" name="Google Shape;98;p18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9" name="Google Shape;99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14" name="Google Shape;114;p21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5" name="Google Shape;115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 rot="5400000">
            <a:off x="2628900" y="-1371600"/>
            <a:ext cx="38862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4" name="Google Shape;134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5" name="Google Shape;135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457200" y="800100"/>
            <a:ext cx="8229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jp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hyperlink" Target="https://www.researchgate.net/figure/Scatter-plot-of-Sitting-Height-over-Height-for-males-and-females_fig3_301724988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Relationship Id="rId4" Type="http://schemas.openxmlformats.org/officeDocument/2006/relationships/hyperlink" Target="https://www.researchgate.net/figure/Scatter-plot-of-Sitting-Height-over-Height-for-males-and-females_fig3_301724988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lecture-demo.ira.uka.de/knn-demo/" TargetMode="External"/><Relationship Id="rId4" Type="http://schemas.openxmlformats.org/officeDocument/2006/relationships/hyperlink" Target="http://vision.stanford.edu/teaching/cs231n-demos/knn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Relationship Id="rId4" Type="http://schemas.openxmlformats.org/officeDocument/2006/relationships/image" Target="../media/image25.png"/><Relationship Id="rId5" Type="http://schemas.openxmlformats.org/officeDocument/2006/relationships/hyperlink" Target="https://scikit-learn.org/stable/auto_examples/model_selection/plot_confusion_matrix.html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Relationship Id="rId4" Type="http://schemas.openxmlformats.org/officeDocument/2006/relationships/hyperlink" Target="https://medium.com/analytics-vidhya/mae-mse-rmse-coefficient-of-determination-adjusted-r-squared-which-metric-is-better-cd0326a5697e" TargetMode="External"/><Relationship Id="rId5" Type="http://schemas.openxmlformats.org/officeDocument/2006/relationships/image" Target="../media/image18.jpg"/><Relationship Id="rId6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youtube.com/watch?v=EuBBz3bI-aA" TargetMode="External"/><Relationship Id="rId4" Type="http://schemas.openxmlformats.org/officeDocument/2006/relationships/image" Target="../media/image3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Relationship Id="rId4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idx="1" type="subTitle"/>
          </p:nvPr>
        </p:nvSpPr>
        <p:spPr>
          <a:xfrm>
            <a:off x="265500" y="3347350"/>
            <a:ext cx="4045200" cy="144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for Electronics Engineers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Shivin Srivastava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/>
              <a:t>Slides Adapted from CS441 UIUC</a:t>
            </a:r>
            <a:endParaRPr sz="800"/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60600" y="724200"/>
            <a:ext cx="4455000" cy="246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K-Nearest Neighbours and ML Basics</a:t>
            </a:r>
            <a:endParaRPr/>
          </a:p>
        </p:txBody>
      </p:sp>
      <p:sp>
        <p:nvSpPr>
          <p:cNvPr id="143" name="Google Shape;143;p2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Today’s Lecture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Overview of machine learning process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K-Nearest Neighbor Algorithm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Measuring and understanding error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Time: 10 minutes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350" y="1269175"/>
            <a:ext cx="3501301" cy="3501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learning model maps from features to prediction</a:t>
            </a:r>
            <a:endParaRPr/>
          </a:p>
        </p:txBody>
      </p:sp>
      <p:sp>
        <p:nvSpPr>
          <p:cNvPr id="163" name="Google Shape;163;p28"/>
          <p:cNvSpPr txBox="1"/>
          <p:nvPr>
            <p:ph idx="1" type="body"/>
          </p:nvPr>
        </p:nvSpPr>
        <p:spPr>
          <a:xfrm>
            <a:off x="457200" y="2286000"/>
            <a:ext cx="8229600" cy="28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 sz="2600"/>
              <a:t>Examples</a:t>
            </a:r>
            <a:endParaRPr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Classification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Is this a dog or a cat? 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Is this email spam or not?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Regression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What will the stock price be tomorrow?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What will be the high temperature tomorrow?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Structured prediction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/>
              <a:t>What is the pose of this person?</a:t>
            </a:r>
            <a:endParaRPr/>
          </a:p>
        </p:txBody>
      </p:sp>
      <p:sp>
        <p:nvSpPr>
          <p:cNvPr id="164" name="Google Shape;164;p28"/>
          <p:cNvSpPr txBox="1"/>
          <p:nvPr/>
        </p:nvSpPr>
        <p:spPr>
          <a:xfrm>
            <a:off x="3257550" y="857250"/>
            <a:ext cx="1943100" cy="57708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65" name="Google Shape;165;p28"/>
          <p:cNvSpPr txBox="1"/>
          <p:nvPr/>
        </p:nvSpPr>
        <p:spPr>
          <a:xfrm>
            <a:off x="3556801" y="1628800"/>
            <a:ext cx="887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sz="1100"/>
          </a:p>
        </p:txBody>
      </p:sp>
      <p:sp>
        <p:nvSpPr>
          <p:cNvPr id="166" name="Google Shape;166;p28"/>
          <p:cNvSpPr txBox="1"/>
          <p:nvPr/>
        </p:nvSpPr>
        <p:spPr>
          <a:xfrm>
            <a:off x="4474074" y="1628800"/>
            <a:ext cx="10362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Prediction</a:t>
            </a:r>
            <a:endParaRPr sz="1100"/>
          </a:p>
        </p:txBody>
      </p:sp>
      <p:cxnSp>
        <p:nvCxnSpPr>
          <p:cNvPr id="167" name="Google Shape;167;p28"/>
          <p:cNvCxnSpPr/>
          <p:nvPr/>
        </p:nvCxnSpPr>
        <p:spPr>
          <a:xfrm rot="10800000">
            <a:off x="4000500" y="1393072"/>
            <a:ext cx="0" cy="235739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8" name="Google Shape;168;p28"/>
          <p:cNvCxnSpPr/>
          <p:nvPr/>
        </p:nvCxnSpPr>
        <p:spPr>
          <a:xfrm rot="10800000">
            <a:off x="4857750" y="1393011"/>
            <a:ext cx="0" cy="23580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69" name="Google Shape;1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4938" y="2600396"/>
            <a:ext cx="1036124" cy="760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1062" y="3431910"/>
            <a:ext cx="1813446" cy="7086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omprehensive Guide on Human Pose Estimation - Analytics Vidhya" id="171" name="Google Shape;171;p28"/>
          <p:cNvPicPr preferRelativeResize="0"/>
          <p:nvPr/>
        </p:nvPicPr>
        <p:blipFill rotWithShape="1">
          <a:blip r:embed="rId6">
            <a:alphaModFix/>
          </a:blip>
          <a:srcRect b="0" l="52362" r="0" t="0"/>
          <a:stretch/>
        </p:blipFill>
        <p:spPr>
          <a:xfrm>
            <a:off x="4830926" y="3880794"/>
            <a:ext cx="887546" cy="12960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Learning has three stages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Training: optimize model parameters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Validation: intermediate evaluations to design/select model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Test: final performance evaluation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0"/>
          <p:cNvSpPr txBox="1"/>
          <p:nvPr>
            <p:ph type="title"/>
          </p:nvPr>
        </p:nvSpPr>
        <p:spPr>
          <a:xfrm>
            <a:off x="457200" y="180147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Training: the model is fit to data to minimize a loss or maximize an objective function </a:t>
            </a:r>
            <a:endParaRPr/>
          </a:p>
        </p:txBody>
      </p:sp>
      <p:sp>
        <p:nvSpPr>
          <p:cNvPr id="183" name="Google Shape;183;p30"/>
          <p:cNvSpPr txBox="1"/>
          <p:nvPr/>
        </p:nvSpPr>
        <p:spPr>
          <a:xfrm>
            <a:off x="1771650" y="1145522"/>
            <a:ext cx="5429250" cy="82267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84" name="Google Shape;184;p30"/>
          <p:cNvSpPr txBox="1"/>
          <p:nvPr/>
        </p:nvSpPr>
        <p:spPr>
          <a:xfrm>
            <a:off x="971550" y="1968199"/>
            <a:ext cx="1600200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parameters that minimize loss</a:t>
            </a:r>
            <a:endParaRPr sz="1100"/>
          </a:p>
        </p:txBody>
      </p:sp>
      <p:cxnSp>
        <p:nvCxnSpPr>
          <p:cNvPr id="185" name="Google Shape;185;p30"/>
          <p:cNvCxnSpPr/>
          <p:nvPr/>
        </p:nvCxnSpPr>
        <p:spPr>
          <a:xfrm>
            <a:off x="3522545" y="3266069"/>
            <a:ext cx="0" cy="1038461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86" name="Google Shape;186;p30"/>
          <p:cNvCxnSpPr/>
          <p:nvPr/>
        </p:nvCxnSpPr>
        <p:spPr>
          <a:xfrm rot="10800000">
            <a:off x="5429250" y="1660304"/>
            <a:ext cx="0" cy="235739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7" name="Google Shape;187;p30"/>
          <p:cNvSpPr txBox="1"/>
          <p:nvPr/>
        </p:nvSpPr>
        <p:spPr>
          <a:xfrm>
            <a:off x="4090277" y="1916798"/>
            <a:ext cx="1857373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Features of all training examples</a:t>
            </a:r>
            <a:endParaRPr sz="1100"/>
          </a:p>
        </p:txBody>
      </p:sp>
      <p:sp>
        <p:nvSpPr>
          <p:cNvPr id="188" name="Google Shape;188;p30"/>
          <p:cNvSpPr txBox="1"/>
          <p:nvPr/>
        </p:nvSpPr>
        <p:spPr>
          <a:xfrm>
            <a:off x="6202907" y="1916798"/>
            <a:ext cx="2369593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“Ground Truth” predictions of all training examples</a:t>
            </a:r>
            <a:endParaRPr sz="1100"/>
          </a:p>
        </p:txBody>
      </p:sp>
      <p:cxnSp>
        <p:nvCxnSpPr>
          <p:cNvPr id="189" name="Google Shape;189;p30"/>
          <p:cNvCxnSpPr/>
          <p:nvPr/>
        </p:nvCxnSpPr>
        <p:spPr>
          <a:xfrm rot="10800000">
            <a:off x="6457950" y="1660304"/>
            <a:ext cx="0" cy="235739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graphicFrame>
        <p:nvGraphicFramePr>
          <p:cNvPr id="190" name="Google Shape;190;p30"/>
          <p:cNvGraphicFramePr/>
          <p:nvPr/>
        </p:nvGraphicFramePr>
        <p:xfrm>
          <a:off x="3657600" y="3192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{EFA7BC30-FBA2-40E7-BD92-69E3CA49C975}</a:tableStyleId>
              </a:tblPr>
              <a:tblGrid>
                <a:gridCol w="366275"/>
                <a:gridCol w="366275"/>
                <a:gridCol w="366275"/>
                <a:gridCol w="3662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 u="none" cap="none" strike="noStrike"/>
                        <a:t>37.5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/>
                        <a:t>41.2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/>
                        <a:t>51.0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/>
                        <a:t>48.3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47.0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46.5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48.9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50.5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 gridSpan="4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…</a:t>
                      </a:r>
                      <a:endParaRPr sz="1100"/>
                    </a:p>
                  </a:txBody>
                  <a:tcPr marT="34300" marB="34300" marR="68600" marL="68600" anchor="ctr"/>
                </a:tc>
                <a:tc hMerge="1"/>
                <a:tc hMerge="1"/>
                <a:tc hMerge="1"/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67.0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64.7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63.0</a:t>
                      </a:r>
                      <a:endParaRPr sz="1100"/>
                    </a:p>
                  </a:txBody>
                  <a:tcPr marT="34300" marB="34300" marR="68600" marL="68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61.4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graphicFrame>
        <p:nvGraphicFramePr>
          <p:cNvPr id="191" name="Google Shape;191;p30"/>
          <p:cNvGraphicFramePr/>
          <p:nvPr/>
        </p:nvGraphicFramePr>
        <p:xfrm>
          <a:off x="5374297" y="3192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{EFA7BC30-FBA2-40E7-BD92-69E3CA49C975}</a:tableStyleId>
              </a:tblPr>
              <a:tblGrid>
                <a:gridCol w="3662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900"/>
                        <a:t>50.5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47.6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…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/>
                        <a:t>60.2</a:t>
                      </a:r>
                      <a:endParaRPr sz="1100"/>
                    </a:p>
                  </a:txBody>
                  <a:tcPr marT="34300" marB="34300" marR="68600" marL="68600" anchor="ctr"/>
                </a:tc>
              </a:tr>
            </a:tbl>
          </a:graphicData>
        </a:graphic>
      </p:graphicFrame>
      <p:sp>
        <p:nvSpPr>
          <p:cNvPr id="192" name="Google Shape;192;p30"/>
          <p:cNvSpPr txBox="1"/>
          <p:nvPr/>
        </p:nvSpPr>
        <p:spPr>
          <a:xfrm>
            <a:off x="3351095" y="2811040"/>
            <a:ext cx="468011" cy="438581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93" name="Google Shape;193;p30"/>
          <p:cNvSpPr txBox="1"/>
          <p:nvPr/>
        </p:nvSpPr>
        <p:spPr>
          <a:xfrm>
            <a:off x="5090438" y="2811040"/>
            <a:ext cx="468011" cy="438581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94" name="Google Shape;194;p30"/>
          <p:cNvSpPr txBox="1"/>
          <p:nvPr/>
        </p:nvSpPr>
        <p:spPr>
          <a:xfrm>
            <a:off x="2589950" y="3471094"/>
            <a:ext cx="914398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row per example</a:t>
            </a:r>
            <a:endParaRPr sz="1100"/>
          </a:p>
        </p:txBody>
      </p:sp>
      <p:cxnSp>
        <p:nvCxnSpPr>
          <p:cNvPr id="195" name="Google Shape;195;p30"/>
          <p:cNvCxnSpPr/>
          <p:nvPr/>
        </p:nvCxnSpPr>
        <p:spPr>
          <a:xfrm>
            <a:off x="3657600" y="4422869"/>
            <a:ext cx="1465146" cy="0"/>
          </a:xfrm>
          <a:prstGeom prst="straightConnector1">
            <a:avLst/>
          </a:pr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6" name="Google Shape;196;p30"/>
          <p:cNvSpPr txBox="1"/>
          <p:nvPr/>
        </p:nvSpPr>
        <p:spPr>
          <a:xfrm>
            <a:off x="3819106" y="4443127"/>
            <a:ext cx="1266935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 column per feature</a:t>
            </a:r>
            <a:endParaRPr sz="1100"/>
          </a:p>
        </p:txBody>
      </p:sp>
      <p:sp>
        <p:nvSpPr>
          <p:cNvPr id="197" name="Google Shape;197;p30"/>
          <p:cNvSpPr txBox="1"/>
          <p:nvPr/>
        </p:nvSpPr>
        <p:spPr>
          <a:xfrm>
            <a:off x="186394" y="3070877"/>
            <a:ext cx="2152005" cy="13388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Learn to predict next day’s temperature given preceding days’ temperatures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6057900" y="3166865"/>
            <a:ext cx="3086100" cy="57342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199" name="Google Shape;199;p30"/>
          <p:cNvSpPr txBox="1"/>
          <p:nvPr/>
        </p:nvSpPr>
        <p:spPr>
          <a:xfrm>
            <a:off x="6005323" y="3909675"/>
            <a:ext cx="2804437" cy="276999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-14753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200" name="Google Shape;200;p30"/>
          <p:cNvSpPr txBox="1"/>
          <p:nvPr/>
        </p:nvSpPr>
        <p:spPr>
          <a:xfrm>
            <a:off x="6005322" y="4505609"/>
            <a:ext cx="280443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via ordinary least squares regression</a:t>
            </a:r>
            <a:endParaRPr sz="1100"/>
          </a:p>
        </p:txBody>
      </p:sp>
      <p:sp>
        <p:nvSpPr>
          <p:cNvPr id="201" name="Google Shape;201;p30"/>
          <p:cNvSpPr txBox="1"/>
          <p:nvPr/>
        </p:nvSpPr>
        <p:spPr>
          <a:xfrm>
            <a:off x="6062297" y="2904432"/>
            <a:ext cx="2804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Loss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sum squared error</a:t>
            </a:r>
            <a:endParaRPr sz="1100"/>
          </a:p>
        </p:txBody>
      </p:sp>
      <p:sp>
        <p:nvSpPr>
          <p:cNvPr id="202" name="Google Shape;202;p30"/>
          <p:cNvSpPr txBox="1"/>
          <p:nvPr/>
        </p:nvSpPr>
        <p:spPr>
          <a:xfrm>
            <a:off x="6062297" y="3700787"/>
            <a:ext cx="280443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linear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457200" y="1143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design and “hyper parameter” tuning is performed using a validation set</a:t>
            </a:r>
            <a:endParaRPr/>
          </a:p>
        </p:txBody>
      </p:sp>
      <p:sp>
        <p:nvSpPr>
          <p:cNvPr id="208" name="Google Shape;208;p31"/>
          <p:cNvSpPr txBox="1"/>
          <p:nvPr>
            <p:ph idx="1" type="body"/>
          </p:nvPr>
        </p:nvSpPr>
        <p:spPr>
          <a:xfrm>
            <a:off x="439387" y="1203178"/>
            <a:ext cx="8229600" cy="216835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Select model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Set training parameters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Feature selection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Learning rate, regularization parameters, …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Sometimes, there are clear “train”, “val”, and “test” sets. Other times, you need to split “train” into a train set for learning parameters and a val set for checking model performance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/>
              <a:t>	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1"/>
          <p:cNvSpPr txBox="1"/>
          <p:nvPr/>
        </p:nvSpPr>
        <p:spPr>
          <a:xfrm>
            <a:off x="1755974" y="1142621"/>
            <a:ext cx="3543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neural network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430823" y="205978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Testing: The effectiveness of the model is evaluated on a held out test set 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30823" y="1059473"/>
            <a:ext cx="8229600" cy="38516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49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"/>
              <a:t> 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 of training and evaluation</a:t>
            </a:r>
            <a:endParaRPr/>
          </a:p>
        </p:txBody>
      </p:sp>
      <p:sp>
        <p:nvSpPr>
          <p:cNvPr id="221" name="Google Shape;221;p33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553915" y="2994422"/>
            <a:ext cx="1485900" cy="517377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 cap="flat" cmpd="sng" w="254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Training Data</a:t>
            </a:r>
            <a:endParaRPr sz="1100"/>
          </a:p>
        </p:txBody>
      </p:sp>
      <p:sp>
        <p:nvSpPr>
          <p:cNvPr id="223" name="Google Shape;223;p33"/>
          <p:cNvSpPr/>
          <p:nvPr/>
        </p:nvSpPr>
        <p:spPr>
          <a:xfrm>
            <a:off x="553915" y="2231877"/>
            <a:ext cx="1485900" cy="5715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Model/Training Design</a:t>
            </a:r>
            <a:endParaRPr sz="1100"/>
          </a:p>
        </p:txBody>
      </p:sp>
      <p:sp>
        <p:nvSpPr>
          <p:cNvPr id="224" name="Google Shape;224;p33"/>
          <p:cNvSpPr/>
          <p:nvPr/>
        </p:nvSpPr>
        <p:spPr>
          <a:xfrm>
            <a:off x="2800350" y="2571750"/>
            <a:ext cx="1485900" cy="800100"/>
          </a:xfrm>
          <a:prstGeom prst="roundRect">
            <a:avLst>
              <a:gd fmla="val 16667" name="adj"/>
            </a:avLst>
          </a:prstGeom>
          <a:solidFill>
            <a:srgbClr val="DAE5F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sz="1100"/>
          </a:p>
        </p:txBody>
      </p:sp>
      <p:sp>
        <p:nvSpPr>
          <p:cNvPr id="225" name="Google Shape;225;p33"/>
          <p:cNvSpPr/>
          <p:nvPr/>
        </p:nvSpPr>
        <p:spPr>
          <a:xfrm>
            <a:off x="4807606" y="2132905"/>
            <a:ext cx="1485900" cy="482849"/>
          </a:xfrm>
          <a:prstGeom prst="roundRect">
            <a:avLst>
              <a:gd fmla="val 16667" name="adj"/>
            </a:avLst>
          </a:prstGeom>
          <a:solidFill>
            <a:srgbClr val="F2DADA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Model</a:t>
            </a:r>
            <a:endParaRPr sz="1100"/>
          </a:p>
        </p:txBody>
      </p:sp>
      <p:sp>
        <p:nvSpPr>
          <p:cNvPr id="226" name="Google Shape;226;p33"/>
          <p:cNvSpPr/>
          <p:nvPr/>
        </p:nvSpPr>
        <p:spPr>
          <a:xfrm>
            <a:off x="4786450" y="3029263"/>
            <a:ext cx="1533433" cy="517377"/>
          </a:xfrm>
          <a:prstGeom prst="roundRect">
            <a:avLst>
              <a:gd fmla="val 16667" name="adj"/>
            </a:avLst>
          </a:prstGeom>
          <a:solidFill>
            <a:srgbClr val="F2DADA"/>
          </a:solidFill>
          <a:ln cap="flat" cmpd="sng" w="254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Model</a:t>
            </a:r>
            <a:endParaRPr sz="1100"/>
          </a:p>
        </p:txBody>
      </p:sp>
      <p:sp>
        <p:nvSpPr>
          <p:cNvPr id="227" name="Google Shape;227;p33"/>
          <p:cNvSpPr/>
          <p:nvPr/>
        </p:nvSpPr>
        <p:spPr>
          <a:xfrm>
            <a:off x="6708302" y="2132297"/>
            <a:ext cx="1485900" cy="482849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 cap="flat" cmpd="sng" w="254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Validation Data</a:t>
            </a:r>
            <a:endParaRPr sz="1100"/>
          </a:p>
        </p:txBody>
      </p:sp>
      <p:sp>
        <p:nvSpPr>
          <p:cNvPr id="228" name="Google Shape;228;p33"/>
          <p:cNvSpPr/>
          <p:nvPr/>
        </p:nvSpPr>
        <p:spPr>
          <a:xfrm>
            <a:off x="6767466" y="3029264"/>
            <a:ext cx="1485900" cy="517661"/>
          </a:xfrm>
          <a:prstGeom prst="roundRect">
            <a:avLst>
              <a:gd fmla="val 16667" name="adj"/>
            </a:avLst>
          </a:prstGeom>
          <a:solidFill>
            <a:srgbClr val="EAF1DD"/>
          </a:solidFill>
          <a:ln cap="flat" cmpd="sng" w="25400">
            <a:solidFill>
              <a:srgbClr val="4F61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Data</a:t>
            </a:r>
            <a:endParaRPr sz="1100"/>
          </a:p>
        </p:txBody>
      </p:sp>
      <p:cxnSp>
        <p:nvCxnSpPr>
          <p:cNvPr id="229" name="Google Shape;229;p33"/>
          <p:cNvCxnSpPr>
            <a:stCxn id="223" idx="3"/>
            <a:endCxn id="224" idx="1"/>
          </p:cNvCxnSpPr>
          <p:nvPr/>
        </p:nvCxnSpPr>
        <p:spPr>
          <a:xfrm>
            <a:off x="2039816" y="2517627"/>
            <a:ext cx="760500" cy="454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0" name="Google Shape;230;p33"/>
          <p:cNvCxnSpPr>
            <a:stCxn id="222" idx="3"/>
            <a:endCxn id="224" idx="1"/>
          </p:cNvCxnSpPr>
          <p:nvPr/>
        </p:nvCxnSpPr>
        <p:spPr>
          <a:xfrm flipH="1" rot="10800000">
            <a:off x="2039816" y="2971711"/>
            <a:ext cx="760500" cy="2814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1" name="Google Shape;231;p33"/>
          <p:cNvCxnSpPr>
            <a:stCxn id="224" idx="3"/>
            <a:endCxn id="225" idx="1"/>
          </p:cNvCxnSpPr>
          <p:nvPr/>
        </p:nvCxnSpPr>
        <p:spPr>
          <a:xfrm flipH="1" rot="10800000">
            <a:off x="4286250" y="2374200"/>
            <a:ext cx="521400" cy="5976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33"/>
          <p:cNvCxnSpPr>
            <a:stCxn id="225" idx="1"/>
            <a:endCxn id="223" idx="0"/>
          </p:cNvCxnSpPr>
          <p:nvPr/>
        </p:nvCxnSpPr>
        <p:spPr>
          <a:xfrm rot="10800000">
            <a:off x="1297006" y="2231829"/>
            <a:ext cx="3510600" cy="142500"/>
          </a:xfrm>
          <a:prstGeom prst="bentConnector4">
            <a:avLst>
              <a:gd fmla="val 39420" name="adj1"/>
              <a:gd fmla="val 220398" name="adj2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3" name="Google Shape;233;p33"/>
          <p:cNvSpPr txBox="1"/>
          <p:nvPr/>
        </p:nvSpPr>
        <p:spPr>
          <a:xfrm>
            <a:off x="2146141" y="1854818"/>
            <a:ext cx="2404745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Modify design </a:t>
            </a:r>
            <a:r>
              <a:rPr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based on initial results</a:t>
            </a:r>
            <a:endParaRPr sz="1100"/>
          </a:p>
        </p:txBody>
      </p:sp>
      <p:cxnSp>
        <p:nvCxnSpPr>
          <p:cNvPr id="234" name="Google Shape;234;p33"/>
          <p:cNvCxnSpPr>
            <a:stCxn id="227" idx="1"/>
            <a:endCxn id="225" idx="3"/>
          </p:cNvCxnSpPr>
          <p:nvPr/>
        </p:nvCxnSpPr>
        <p:spPr>
          <a:xfrm flipH="1">
            <a:off x="6293402" y="2373721"/>
            <a:ext cx="414900" cy="600"/>
          </a:xfrm>
          <a:prstGeom prst="bentConnector3">
            <a:avLst>
              <a:gd fmla="val 49988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5" name="Google Shape;235;p33"/>
          <p:cNvSpPr txBox="1"/>
          <p:nvPr/>
        </p:nvSpPr>
        <p:spPr>
          <a:xfrm>
            <a:off x="2394926" y="2391125"/>
            <a:ext cx="521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</a:t>
            </a:r>
            <a:endParaRPr sz="1100"/>
          </a:p>
        </p:txBody>
      </p:sp>
      <p:cxnSp>
        <p:nvCxnSpPr>
          <p:cNvPr id="236" name="Google Shape;236;p33"/>
          <p:cNvCxnSpPr>
            <a:stCxn id="228" idx="1"/>
            <a:endCxn id="226" idx="3"/>
          </p:cNvCxnSpPr>
          <p:nvPr/>
        </p:nvCxnSpPr>
        <p:spPr>
          <a:xfrm flipH="1">
            <a:off x="6319866" y="3288094"/>
            <a:ext cx="447600" cy="600"/>
          </a:xfrm>
          <a:prstGeom prst="bentConnector3">
            <a:avLst>
              <a:gd fmla="val 50007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7" name="Google Shape;237;p33"/>
          <p:cNvCxnSpPr>
            <a:stCxn id="224" idx="3"/>
            <a:endCxn id="226" idx="1"/>
          </p:cNvCxnSpPr>
          <p:nvPr/>
        </p:nvCxnSpPr>
        <p:spPr>
          <a:xfrm>
            <a:off x="4286250" y="2971800"/>
            <a:ext cx="500100" cy="316200"/>
          </a:xfrm>
          <a:prstGeom prst="bentConnector3">
            <a:avLst>
              <a:gd fmla="val 50000" name="adj1"/>
            </a:avLst>
          </a:prstGeom>
          <a:noFill/>
          <a:ln cap="flat" cmpd="sng" w="2857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8" name="Google Shape;238;p33"/>
          <p:cNvSpPr txBox="1"/>
          <p:nvPr/>
        </p:nvSpPr>
        <p:spPr>
          <a:xfrm>
            <a:off x="4557954" y="2662541"/>
            <a:ext cx="1592023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Evaluate model design</a:t>
            </a:r>
            <a:endParaRPr sz="1100"/>
          </a:p>
        </p:txBody>
      </p:sp>
      <p:sp>
        <p:nvSpPr>
          <p:cNvPr id="239" name="Google Shape;239;p33"/>
          <p:cNvSpPr txBox="1"/>
          <p:nvPr/>
        </p:nvSpPr>
        <p:spPr>
          <a:xfrm>
            <a:off x="4286250" y="3524635"/>
            <a:ext cx="1150796" cy="23083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Final evaluation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457200" y="133165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class do you think the ‘+’ belongs to?</a:t>
            </a:r>
            <a:endParaRPr/>
          </a:p>
        </p:txBody>
      </p:sp>
      <p:grpSp>
        <p:nvGrpSpPr>
          <p:cNvPr id="245" name="Google Shape;245;p34"/>
          <p:cNvGrpSpPr/>
          <p:nvPr/>
        </p:nvGrpSpPr>
        <p:grpSpPr>
          <a:xfrm>
            <a:off x="3089140" y="1534371"/>
            <a:ext cx="3028950" cy="2563416"/>
            <a:chOff x="4267200" y="2667000"/>
            <a:chExt cx="4038600" cy="3417332"/>
          </a:xfrm>
        </p:grpSpPr>
        <p:sp>
          <p:nvSpPr>
            <p:cNvPr id="246" name="Google Shape;246;p34"/>
            <p:cNvSpPr txBox="1"/>
            <p:nvPr/>
          </p:nvSpPr>
          <p:spPr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47" name="Google Shape;247;p34"/>
            <p:cNvSpPr txBox="1"/>
            <p:nvPr/>
          </p:nvSpPr>
          <p:spPr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48" name="Google Shape;248;p34"/>
            <p:cNvSpPr txBox="1"/>
            <p:nvPr/>
          </p:nvSpPr>
          <p:spPr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49" name="Google Shape;249;p34"/>
            <p:cNvSpPr txBox="1"/>
            <p:nvPr/>
          </p:nvSpPr>
          <p:spPr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50" name="Google Shape;250;p34"/>
            <p:cNvSpPr txBox="1"/>
            <p:nvPr/>
          </p:nvSpPr>
          <p:spPr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51" name="Google Shape;251;p34"/>
            <p:cNvSpPr txBox="1"/>
            <p:nvPr/>
          </p:nvSpPr>
          <p:spPr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52" name="Google Shape;252;p34"/>
            <p:cNvSpPr txBox="1"/>
            <p:nvPr/>
          </p:nvSpPr>
          <p:spPr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53" name="Google Shape;253;p34"/>
            <p:cNvSpPr txBox="1"/>
            <p:nvPr/>
          </p:nvSpPr>
          <p:spPr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54" name="Google Shape;254;p34"/>
            <p:cNvSpPr txBox="1"/>
            <p:nvPr/>
          </p:nvSpPr>
          <p:spPr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55" name="Google Shape;255;p34"/>
            <p:cNvSpPr txBox="1"/>
            <p:nvPr/>
          </p:nvSpPr>
          <p:spPr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56" name="Google Shape;256;p34"/>
            <p:cNvSpPr txBox="1"/>
            <p:nvPr/>
          </p:nvSpPr>
          <p:spPr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57" name="Google Shape;257;p34"/>
            <p:cNvSpPr txBox="1"/>
            <p:nvPr/>
          </p:nvSpPr>
          <p:spPr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58" name="Google Shape;258;p34"/>
            <p:cNvSpPr txBox="1"/>
            <p:nvPr/>
          </p:nvSpPr>
          <p:spPr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59" name="Google Shape;259;p34"/>
            <p:cNvSpPr txBox="1"/>
            <p:nvPr/>
          </p:nvSpPr>
          <p:spPr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60" name="Google Shape;260;p34"/>
            <p:cNvSpPr txBox="1"/>
            <p:nvPr/>
          </p:nvSpPr>
          <p:spPr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cxnSp>
          <p:nvCxnSpPr>
            <p:cNvPr id="261" name="Google Shape;261;p34"/>
            <p:cNvCxnSpPr/>
            <p:nvPr/>
          </p:nvCxnSpPr>
          <p:spPr>
            <a:xfrm rot="-5400000">
              <a:off x="3389555" y="4152658"/>
              <a:ext cx="2972904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262" name="Google Shape;262;p34"/>
            <p:cNvCxnSpPr/>
            <p:nvPr/>
          </p:nvCxnSpPr>
          <p:spPr>
            <a:xfrm flipH="1" rot="10800000">
              <a:off x="4876800" y="5638317"/>
              <a:ext cx="342900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63" name="Google Shape;263;p34"/>
            <p:cNvSpPr txBox="1"/>
            <p:nvPr/>
          </p:nvSpPr>
          <p:spPr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x2</a:t>
              </a:r>
              <a:endParaRPr sz="1100"/>
            </a:p>
          </p:txBody>
        </p:sp>
        <p:sp>
          <p:nvSpPr>
            <p:cNvPr id="264" name="Google Shape;264;p34"/>
            <p:cNvSpPr txBox="1"/>
            <p:nvPr/>
          </p:nvSpPr>
          <p:spPr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x1</a:t>
              </a:r>
              <a:endParaRPr sz="1100"/>
            </a:p>
          </p:txBody>
        </p:sp>
      </p:grpSp>
      <p:sp>
        <p:nvSpPr>
          <p:cNvPr id="265" name="Google Shape;265;p34"/>
          <p:cNvSpPr txBox="1"/>
          <p:nvPr/>
        </p:nvSpPr>
        <p:spPr>
          <a:xfrm>
            <a:off x="4798010" y="2367185"/>
            <a:ext cx="239316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principle of machine learning</a:t>
            </a:r>
            <a:endParaRPr/>
          </a:p>
        </p:txBody>
      </p:sp>
      <p:sp>
        <p:nvSpPr>
          <p:cNvPr id="271" name="Google Shape;271;p35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389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Nearest neighbor algorithm</a:t>
            </a:r>
            <a:endParaRPr/>
          </a:p>
        </p:txBody>
      </p:sp>
      <p:sp>
        <p:nvSpPr>
          <p:cNvPr id="278" name="Google Shape;278;p36"/>
          <p:cNvSpPr txBox="1"/>
          <p:nvPr/>
        </p:nvSpPr>
        <p:spPr>
          <a:xfrm>
            <a:off x="400050" y="1943100"/>
            <a:ext cx="5420720" cy="81310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4605" l="-1771" r="0" t="-617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  <p:sp>
        <p:nvSpPr>
          <p:cNvPr id="279" name="Google Shape;279;p36"/>
          <p:cNvSpPr txBox="1"/>
          <p:nvPr/>
        </p:nvSpPr>
        <p:spPr>
          <a:xfrm>
            <a:off x="400050" y="914400"/>
            <a:ext cx="5772150" cy="7155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given test features, assign the label / target value of the most similar training features</a:t>
            </a:r>
            <a:endParaRPr sz="1100"/>
          </a:p>
        </p:txBody>
      </p:sp>
      <p:sp>
        <p:nvSpPr>
          <p:cNvPr id="280" name="Google Shape;280;p36"/>
          <p:cNvSpPr txBox="1"/>
          <p:nvPr/>
        </p:nvSpPr>
        <p:spPr>
          <a:xfrm>
            <a:off x="412845" y="3210446"/>
            <a:ext cx="7873905" cy="39241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Distance function is up to designer. Simplest is L2 distance.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457200" y="133165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K-nearest neighbor: predict based on K closest training samples</a:t>
            </a:r>
            <a:endParaRPr/>
          </a:p>
        </p:txBody>
      </p:sp>
      <p:grpSp>
        <p:nvGrpSpPr>
          <p:cNvPr id="286" name="Google Shape;286;p37"/>
          <p:cNvGrpSpPr/>
          <p:nvPr/>
        </p:nvGrpSpPr>
        <p:grpSpPr>
          <a:xfrm>
            <a:off x="3089140" y="1534371"/>
            <a:ext cx="3028950" cy="2563416"/>
            <a:chOff x="4267200" y="2667000"/>
            <a:chExt cx="4038600" cy="3417332"/>
          </a:xfrm>
        </p:grpSpPr>
        <p:sp>
          <p:nvSpPr>
            <p:cNvPr id="287" name="Google Shape;287;p37"/>
            <p:cNvSpPr txBox="1"/>
            <p:nvPr/>
          </p:nvSpPr>
          <p:spPr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88" name="Google Shape;288;p37"/>
            <p:cNvSpPr txBox="1"/>
            <p:nvPr/>
          </p:nvSpPr>
          <p:spPr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89" name="Google Shape;289;p37"/>
            <p:cNvSpPr txBox="1"/>
            <p:nvPr/>
          </p:nvSpPr>
          <p:spPr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0" name="Google Shape;290;p37"/>
            <p:cNvSpPr txBox="1"/>
            <p:nvPr/>
          </p:nvSpPr>
          <p:spPr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1" name="Google Shape;291;p37"/>
            <p:cNvSpPr txBox="1"/>
            <p:nvPr/>
          </p:nvSpPr>
          <p:spPr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2" name="Google Shape;292;p37"/>
            <p:cNvSpPr txBox="1"/>
            <p:nvPr/>
          </p:nvSpPr>
          <p:spPr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3" name="Google Shape;293;p37"/>
            <p:cNvSpPr txBox="1"/>
            <p:nvPr/>
          </p:nvSpPr>
          <p:spPr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4" name="Google Shape;294;p37"/>
            <p:cNvSpPr txBox="1"/>
            <p:nvPr/>
          </p:nvSpPr>
          <p:spPr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295" name="Google Shape;295;p37"/>
            <p:cNvSpPr txBox="1"/>
            <p:nvPr/>
          </p:nvSpPr>
          <p:spPr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96" name="Google Shape;296;p37"/>
            <p:cNvSpPr txBox="1"/>
            <p:nvPr/>
          </p:nvSpPr>
          <p:spPr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97" name="Google Shape;297;p37"/>
            <p:cNvSpPr txBox="1"/>
            <p:nvPr/>
          </p:nvSpPr>
          <p:spPr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98" name="Google Shape;298;p37"/>
            <p:cNvSpPr txBox="1"/>
            <p:nvPr/>
          </p:nvSpPr>
          <p:spPr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299" name="Google Shape;299;p37"/>
            <p:cNvSpPr txBox="1"/>
            <p:nvPr/>
          </p:nvSpPr>
          <p:spPr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00" name="Google Shape;300;p37"/>
            <p:cNvSpPr txBox="1"/>
            <p:nvPr/>
          </p:nvSpPr>
          <p:spPr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01" name="Google Shape;301;p37"/>
            <p:cNvSpPr txBox="1"/>
            <p:nvPr/>
          </p:nvSpPr>
          <p:spPr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cxnSp>
          <p:nvCxnSpPr>
            <p:cNvPr id="302" name="Google Shape;302;p37"/>
            <p:cNvCxnSpPr/>
            <p:nvPr/>
          </p:nvCxnSpPr>
          <p:spPr>
            <a:xfrm rot="-5400000">
              <a:off x="3389555" y="4152658"/>
              <a:ext cx="2972904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03" name="Google Shape;303;p37"/>
            <p:cNvCxnSpPr/>
            <p:nvPr/>
          </p:nvCxnSpPr>
          <p:spPr>
            <a:xfrm flipH="1" rot="10800000">
              <a:off x="4876800" y="5638317"/>
              <a:ext cx="342900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04" name="Google Shape;304;p37"/>
            <p:cNvSpPr txBox="1"/>
            <p:nvPr/>
          </p:nvSpPr>
          <p:spPr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x2</a:t>
              </a:r>
              <a:endParaRPr sz="1100"/>
            </a:p>
          </p:txBody>
        </p:sp>
        <p:sp>
          <p:nvSpPr>
            <p:cNvPr id="305" name="Google Shape;305;p37"/>
            <p:cNvSpPr txBox="1"/>
            <p:nvPr/>
          </p:nvSpPr>
          <p:spPr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x1</a:t>
              </a:r>
              <a:endParaRPr sz="1100"/>
            </a:p>
          </p:txBody>
        </p:sp>
      </p:grpSp>
      <p:sp>
        <p:nvSpPr>
          <p:cNvPr id="306" name="Google Shape;306;p37"/>
          <p:cNvSpPr txBox="1"/>
          <p:nvPr/>
        </p:nvSpPr>
        <p:spPr>
          <a:xfrm>
            <a:off x="4117840" y="2448772"/>
            <a:ext cx="239316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07" name="Google Shape;307;p37"/>
          <p:cNvSpPr txBox="1"/>
          <p:nvPr/>
        </p:nvSpPr>
        <p:spPr>
          <a:xfrm>
            <a:off x="4964375" y="2791672"/>
            <a:ext cx="239315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1-nearest neighbor</a:t>
            </a:r>
            <a:endParaRPr/>
          </a:p>
        </p:txBody>
      </p:sp>
      <p:grpSp>
        <p:nvGrpSpPr>
          <p:cNvPr id="313" name="Google Shape;313;p38"/>
          <p:cNvGrpSpPr/>
          <p:nvPr/>
        </p:nvGrpSpPr>
        <p:grpSpPr>
          <a:xfrm>
            <a:off x="3089140" y="1543050"/>
            <a:ext cx="3028950" cy="2563416"/>
            <a:chOff x="4267200" y="2667000"/>
            <a:chExt cx="4038600" cy="3417332"/>
          </a:xfrm>
        </p:grpSpPr>
        <p:sp>
          <p:nvSpPr>
            <p:cNvPr id="314" name="Google Shape;314;p38"/>
            <p:cNvSpPr txBox="1"/>
            <p:nvPr/>
          </p:nvSpPr>
          <p:spPr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15" name="Google Shape;315;p38"/>
            <p:cNvSpPr txBox="1"/>
            <p:nvPr/>
          </p:nvSpPr>
          <p:spPr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16" name="Google Shape;316;p38"/>
            <p:cNvSpPr txBox="1"/>
            <p:nvPr/>
          </p:nvSpPr>
          <p:spPr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17" name="Google Shape;317;p38"/>
            <p:cNvSpPr txBox="1"/>
            <p:nvPr/>
          </p:nvSpPr>
          <p:spPr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18" name="Google Shape;318;p38"/>
            <p:cNvSpPr txBox="1"/>
            <p:nvPr/>
          </p:nvSpPr>
          <p:spPr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19" name="Google Shape;319;p38"/>
            <p:cNvSpPr txBox="1"/>
            <p:nvPr/>
          </p:nvSpPr>
          <p:spPr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20" name="Google Shape;320;p38"/>
            <p:cNvSpPr txBox="1"/>
            <p:nvPr/>
          </p:nvSpPr>
          <p:spPr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21" name="Google Shape;321;p38"/>
            <p:cNvSpPr txBox="1"/>
            <p:nvPr/>
          </p:nvSpPr>
          <p:spPr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22" name="Google Shape;322;p38"/>
            <p:cNvSpPr txBox="1"/>
            <p:nvPr/>
          </p:nvSpPr>
          <p:spPr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3" name="Google Shape;323;p38"/>
            <p:cNvSpPr txBox="1"/>
            <p:nvPr/>
          </p:nvSpPr>
          <p:spPr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4" name="Google Shape;324;p38"/>
            <p:cNvSpPr txBox="1"/>
            <p:nvPr/>
          </p:nvSpPr>
          <p:spPr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5" name="Google Shape;325;p38"/>
            <p:cNvSpPr txBox="1"/>
            <p:nvPr/>
          </p:nvSpPr>
          <p:spPr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6" name="Google Shape;326;p38"/>
            <p:cNvSpPr txBox="1"/>
            <p:nvPr/>
          </p:nvSpPr>
          <p:spPr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7" name="Google Shape;327;p38"/>
            <p:cNvSpPr txBox="1"/>
            <p:nvPr/>
          </p:nvSpPr>
          <p:spPr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28" name="Google Shape;328;p38"/>
            <p:cNvSpPr txBox="1"/>
            <p:nvPr/>
          </p:nvSpPr>
          <p:spPr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cxnSp>
          <p:nvCxnSpPr>
            <p:cNvPr id="329" name="Google Shape;329;p38"/>
            <p:cNvCxnSpPr/>
            <p:nvPr/>
          </p:nvCxnSpPr>
          <p:spPr>
            <a:xfrm rot="-5400000">
              <a:off x="3389555" y="4152658"/>
              <a:ext cx="2972904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30" name="Google Shape;330;p38"/>
            <p:cNvCxnSpPr/>
            <p:nvPr/>
          </p:nvCxnSpPr>
          <p:spPr>
            <a:xfrm flipH="1" rot="10800000">
              <a:off x="4876800" y="5638317"/>
              <a:ext cx="342900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31" name="Google Shape;331;p38"/>
            <p:cNvSpPr txBox="1"/>
            <p:nvPr/>
          </p:nvSpPr>
          <p:spPr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x2</a:t>
              </a:r>
              <a:endParaRPr sz="1100"/>
            </a:p>
          </p:txBody>
        </p:sp>
        <p:sp>
          <p:nvSpPr>
            <p:cNvPr id="332" name="Google Shape;332;p38"/>
            <p:cNvSpPr txBox="1"/>
            <p:nvPr/>
          </p:nvSpPr>
          <p:spPr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x1</a:t>
              </a:r>
              <a:endParaRPr sz="1100"/>
            </a:p>
          </p:txBody>
        </p:sp>
      </p:grpSp>
      <p:sp>
        <p:nvSpPr>
          <p:cNvPr id="333" name="Google Shape;333;p38"/>
          <p:cNvSpPr txBox="1"/>
          <p:nvPr/>
        </p:nvSpPr>
        <p:spPr>
          <a:xfrm>
            <a:off x="4117840" y="2457450"/>
            <a:ext cx="239316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34" name="Google Shape;334;p38"/>
          <p:cNvSpPr txBox="1"/>
          <p:nvPr/>
        </p:nvSpPr>
        <p:spPr>
          <a:xfrm>
            <a:off x="4964375" y="2800350"/>
            <a:ext cx="239315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35" name="Google Shape;335;p38"/>
          <p:cNvSpPr/>
          <p:nvPr/>
        </p:nvSpPr>
        <p:spPr>
          <a:xfrm>
            <a:off x="4117840" y="2286000"/>
            <a:ext cx="285750" cy="457200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4803640" y="2743200"/>
            <a:ext cx="400050" cy="457200"/>
          </a:xfrm>
          <a:prstGeom prst="ellipse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3-nearest neighbor</a:t>
            </a:r>
            <a:endParaRPr/>
          </a:p>
        </p:txBody>
      </p:sp>
      <p:grpSp>
        <p:nvGrpSpPr>
          <p:cNvPr id="342" name="Google Shape;342;p39"/>
          <p:cNvGrpSpPr/>
          <p:nvPr/>
        </p:nvGrpSpPr>
        <p:grpSpPr>
          <a:xfrm>
            <a:off x="3099547" y="1543050"/>
            <a:ext cx="3028950" cy="2563416"/>
            <a:chOff x="4267200" y="2667000"/>
            <a:chExt cx="4038600" cy="3417332"/>
          </a:xfrm>
        </p:grpSpPr>
        <p:sp>
          <p:nvSpPr>
            <p:cNvPr id="343" name="Google Shape;343;p39"/>
            <p:cNvSpPr txBox="1"/>
            <p:nvPr/>
          </p:nvSpPr>
          <p:spPr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4" name="Google Shape;344;p39"/>
            <p:cNvSpPr txBox="1"/>
            <p:nvPr/>
          </p:nvSpPr>
          <p:spPr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5" name="Google Shape;345;p39"/>
            <p:cNvSpPr txBox="1"/>
            <p:nvPr/>
          </p:nvSpPr>
          <p:spPr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6" name="Google Shape;346;p39"/>
            <p:cNvSpPr txBox="1"/>
            <p:nvPr/>
          </p:nvSpPr>
          <p:spPr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7" name="Google Shape;347;p39"/>
            <p:cNvSpPr txBox="1"/>
            <p:nvPr/>
          </p:nvSpPr>
          <p:spPr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8" name="Google Shape;348;p39"/>
            <p:cNvSpPr txBox="1"/>
            <p:nvPr/>
          </p:nvSpPr>
          <p:spPr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49" name="Google Shape;349;p39"/>
            <p:cNvSpPr txBox="1"/>
            <p:nvPr/>
          </p:nvSpPr>
          <p:spPr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50" name="Google Shape;350;p39"/>
            <p:cNvSpPr txBox="1"/>
            <p:nvPr/>
          </p:nvSpPr>
          <p:spPr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51" name="Google Shape;351;p39"/>
            <p:cNvSpPr txBox="1"/>
            <p:nvPr/>
          </p:nvSpPr>
          <p:spPr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2" name="Google Shape;352;p39"/>
            <p:cNvSpPr txBox="1"/>
            <p:nvPr/>
          </p:nvSpPr>
          <p:spPr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3" name="Google Shape;353;p39"/>
            <p:cNvSpPr txBox="1"/>
            <p:nvPr/>
          </p:nvSpPr>
          <p:spPr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4" name="Google Shape;354;p39"/>
            <p:cNvSpPr txBox="1"/>
            <p:nvPr/>
          </p:nvSpPr>
          <p:spPr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5" name="Google Shape;355;p39"/>
            <p:cNvSpPr txBox="1"/>
            <p:nvPr/>
          </p:nvSpPr>
          <p:spPr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6" name="Google Shape;356;p39"/>
            <p:cNvSpPr txBox="1"/>
            <p:nvPr/>
          </p:nvSpPr>
          <p:spPr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57" name="Google Shape;357;p39"/>
            <p:cNvSpPr txBox="1"/>
            <p:nvPr/>
          </p:nvSpPr>
          <p:spPr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cxnSp>
          <p:nvCxnSpPr>
            <p:cNvPr id="358" name="Google Shape;358;p39"/>
            <p:cNvCxnSpPr/>
            <p:nvPr/>
          </p:nvCxnSpPr>
          <p:spPr>
            <a:xfrm rot="-5400000">
              <a:off x="3389555" y="4152658"/>
              <a:ext cx="2972904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59" name="Google Shape;359;p39"/>
            <p:cNvCxnSpPr/>
            <p:nvPr/>
          </p:nvCxnSpPr>
          <p:spPr>
            <a:xfrm flipH="1" rot="10800000">
              <a:off x="4876800" y="5638317"/>
              <a:ext cx="342900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60" name="Google Shape;360;p39"/>
            <p:cNvSpPr txBox="1"/>
            <p:nvPr/>
          </p:nvSpPr>
          <p:spPr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x2</a:t>
              </a:r>
              <a:endParaRPr sz="1100"/>
            </a:p>
          </p:txBody>
        </p:sp>
        <p:sp>
          <p:nvSpPr>
            <p:cNvPr id="361" name="Google Shape;361;p39"/>
            <p:cNvSpPr txBox="1"/>
            <p:nvPr/>
          </p:nvSpPr>
          <p:spPr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x1</a:t>
              </a:r>
              <a:endParaRPr sz="1100"/>
            </a:p>
          </p:txBody>
        </p:sp>
      </p:grpSp>
      <p:sp>
        <p:nvSpPr>
          <p:cNvPr id="362" name="Google Shape;362;p39"/>
          <p:cNvSpPr txBox="1"/>
          <p:nvPr/>
        </p:nvSpPr>
        <p:spPr>
          <a:xfrm>
            <a:off x="4128247" y="2457450"/>
            <a:ext cx="239316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63" name="Google Shape;363;p39"/>
          <p:cNvSpPr txBox="1"/>
          <p:nvPr/>
        </p:nvSpPr>
        <p:spPr>
          <a:xfrm>
            <a:off x="4974782" y="2800350"/>
            <a:ext cx="239315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64" name="Google Shape;364;p39"/>
          <p:cNvSpPr/>
          <p:nvPr/>
        </p:nvSpPr>
        <p:spPr>
          <a:xfrm>
            <a:off x="3842497" y="2286000"/>
            <a:ext cx="800100" cy="685800"/>
          </a:xfrm>
          <a:prstGeom prst="ellipse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9"/>
          <p:cNvSpPr/>
          <p:nvPr/>
        </p:nvSpPr>
        <p:spPr>
          <a:xfrm>
            <a:off x="4413997" y="2686050"/>
            <a:ext cx="1085850" cy="514350"/>
          </a:xfrm>
          <a:prstGeom prst="ellipse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5-nearest neighbor</a:t>
            </a:r>
            <a:endParaRPr/>
          </a:p>
        </p:txBody>
      </p:sp>
      <p:grpSp>
        <p:nvGrpSpPr>
          <p:cNvPr id="371" name="Google Shape;371;p40"/>
          <p:cNvGrpSpPr/>
          <p:nvPr/>
        </p:nvGrpSpPr>
        <p:grpSpPr>
          <a:xfrm>
            <a:off x="3086100" y="1551384"/>
            <a:ext cx="3028950" cy="2563416"/>
            <a:chOff x="4267200" y="2667000"/>
            <a:chExt cx="4038600" cy="3417332"/>
          </a:xfrm>
        </p:grpSpPr>
        <p:sp>
          <p:nvSpPr>
            <p:cNvPr id="372" name="Google Shape;372;p40"/>
            <p:cNvSpPr txBox="1"/>
            <p:nvPr/>
          </p:nvSpPr>
          <p:spPr>
            <a:xfrm>
              <a:off x="65532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3" name="Google Shape;373;p40"/>
            <p:cNvSpPr txBox="1"/>
            <p:nvPr/>
          </p:nvSpPr>
          <p:spPr>
            <a:xfrm>
              <a:off x="7086600" y="35052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4" name="Google Shape;374;p40"/>
            <p:cNvSpPr txBox="1"/>
            <p:nvPr/>
          </p:nvSpPr>
          <p:spPr>
            <a:xfrm>
              <a:off x="7086600" y="4191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5" name="Google Shape;375;p40"/>
            <p:cNvSpPr txBox="1"/>
            <p:nvPr/>
          </p:nvSpPr>
          <p:spPr>
            <a:xfrm>
              <a:off x="7620000" y="4038600"/>
              <a:ext cx="2286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6" name="Google Shape;376;p40"/>
            <p:cNvSpPr txBox="1"/>
            <p:nvPr/>
          </p:nvSpPr>
          <p:spPr>
            <a:xfrm>
              <a:off x="5257800" y="2895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7" name="Google Shape;377;p40"/>
            <p:cNvSpPr txBox="1"/>
            <p:nvPr/>
          </p:nvSpPr>
          <p:spPr>
            <a:xfrm>
              <a:off x="5257800" y="3429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8" name="Google Shape;378;p40"/>
            <p:cNvSpPr txBox="1"/>
            <p:nvPr/>
          </p:nvSpPr>
          <p:spPr>
            <a:xfrm>
              <a:off x="6248400" y="30480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79" name="Google Shape;379;p40"/>
            <p:cNvSpPr txBox="1"/>
            <p:nvPr/>
          </p:nvSpPr>
          <p:spPr>
            <a:xfrm>
              <a:off x="5715000" y="3657600"/>
              <a:ext cx="3129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x</a:t>
              </a:r>
              <a:endParaRPr sz="1100"/>
            </a:p>
          </p:txBody>
        </p:sp>
        <p:sp>
          <p:nvSpPr>
            <p:cNvPr id="380" name="Google Shape;380;p40"/>
            <p:cNvSpPr txBox="1"/>
            <p:nvPr/>
          </p:nvSpPr>
          <p:spPr>
            <a:xfrm>
              <a:off x="6172200" y="3352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1" name="Google Shape;381;p40"/>
            <p:cNvSpPr txBox="1"/>
            <p:nvPr/>
          </p:nvSpPr>
          <p:spPr>
            <a:xfrm>
              <a:off x="6553200" y="44196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2" name="Google Shape;382;p40"/>
            <p:cNvSpPr txBox="1"/>
            <p:nvPr/>
          </p:nvSpPr>
          <p:spPr>
            <a:xfrm>
              <a:off x="5181600" y="4648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3" name="Google Shape;383;p40"/>
            <p:cNvSpPr txBox="1"/>
            <p:nvPr/>
          </p:nvSpPr>
          <p:spPr>
            <a:xfrm>
              <a:off x="5334000" y="41148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4" name="Google Shape;384;p40"/>
            <p:cNvSpPr txBox="1"/>
            <p:nvPr/>
          </p:nvSpPr>
          <p:spPr>
            <a:xfrm>
              <a:off x="5943600" y="50292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5" name="Google Shape;385;p40"/>
            <p:cNvSpPr txBox="1"/>
            <p:nvPr/>
          </p:nvSpPr>
          <p:spPr>
            <a:xfrm>
              <a:off x="6019800" y="4343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sp>
          <p:nvSpPr>
            <p:cNvPr id="386" name="Google Shape;386;p40"/>
            <p:cNvSpPr txBox="1"/>
            <p:nvPr/>
          </p:nvSpPr>
          <p:spPr>
            <a:xfrm>
              <a:off x="6019800" y="3962400"/>
              <a:ext cx="32573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00B050"/>
                  </a:solidFill>
                  <a:latin typeface="Arial"/>
                  <a:ea typeface="Arial"/>
                  <a:cs typeface="Arial"/>
                  <a:sym typeface="Arial"/>
                </a:rPr>
                <a:t>o</a:t>
              </a:r>
              <a:endParaRPr sz="1100"/>
            </a:p>
          </p:txBody>
        </p:sp>
        <p:cxnSp>
          <p:nvCxnSpPr>
            <p:cNvPr id="387" name="Google Shape;387;p40"/>
            <p:cNvCxnSpPr/>
            <p:nvPr/>
          </p:nvCxnSpPr>
          <p:spPr>
            <a:xfrm rot="-5400000">
              <a:off x="3389555" y="4152658"/>
              <a:ext cx="2972904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388" name="Google Shape;388;p40"/>
            <p:cNvCxnSpPr/>
            <p:nvPr/>
          </p:nvCxnSpPr>
          <p:spPr>
            <a:xfrm flipH="1" rot="10800000">
              <a:off x="4876800" y="5638317"/>
              <a:ext cx="3429000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389" name="Google Shape;389;p40"/>
            <p:cNvSpPr txBox="1"/>
            <p:nvPr/>
          </p:nvSpPr>
          <p:spPr>
            <a:xfrm>
              <a:off x="4267200" y="51816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x2</a:t>
              </a:r>
              <a:endParaRPr sz="1100"/>
            </a:p>
          </p:txBody>
        </p:sp>
        <p:sp>
          <p:nvSpPr>
            <p:cNvPr id="390" name="Google Shape;390;p40"/>
            <p:cNvSpPr txBox="1"/>
            <p:nvPr/>
          </p:nvSpPr>
          <p:spPr>
            <a:xfrm>
              <a:off x="5105400" y="5715000"/>
              <a:ext cx="42832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x1</a:t>
              </a:r>
              <a:endParaRPr sz="1100"/>
            </a:p>
          </p:txBody>
        </p:sp>
      </p:grpSp>
      <p:sp>
        <p:nvSpPr>
          <p:cNvPr id="391" name="Google Shape;391;p40"/>
          <p:cNvSpPr txBox="1"/>
          <p:nvPr/>
        </p:nvSpPr>
        <p:spPr>
          <a:xfrm>
            <a:off x="4114800" y="2465784"/>
            <a:ext cx="239316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92" name="Google Shape;392;p40"/>
          <p:cNvSpPr txBox="1"/>
          <p:nvPr/>
        </p:nvSpPr>
        <p:spPr>
          <a:xfrm>
            <a:off x="4961336" y="2808684"/>
            <a:ext cx="239315" cy="27741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393" name="Google Shape;393;p40"/>
          <p:cNvSpPr/>
          <p:nvPr/>
        </p:nvSpPr>
        <p:spPr>
          <a:xfrm rot="2565105">
            <a:off x="3714750" y="2180034"/>
            <a:ext cx="1085850" cy="857250"/>
          </a:xfrm>
          <a:prstGeom prst="ellipse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40"/>
          <p:cNvSpPr/>
          <p:nvPr/>
        </p:nvSpPr>
        <p:spPr>
          <a:xfrm>
            <a:off x="4286250" y="2522934"/>
            <a:ext cx="1657350" cy="685800"/>
          </a:xfrm>
          <a:prstGeom prst="ellipse">
            <a:avLst/>
          </a:prstGeom>
          <a:noFill/>
          <a:ln cap="flat" cmpd="sng" w="25400">
            <a:solidFill>
              <a:srgbClr val="00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Distance Function </a:t>
            </a:r>
            <a:endParaRPr/>
          </a:p>
        </p:txBody>
      </p:sp>
      <p:sp>
        <p:nvSpPr>
          <p:cNvPr id="400" name="Google Shape;400;p41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949" l="-1277" r="0" t="-1067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1"/>
          <p:cNvSpPr txBox="1"/>
          <p:nvPr/>
        </p:nvSpPr>
        <p:spPr>
          <a:xfrm>
            <a:off x="5029200" y="4849287"/>
            <a:ext cx="4573377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6666" l="0" r="0" t="-9999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Classification vs Regression</a:t>
            </a:r>
            <a:endParaRPr/>
          </a:p>
        </p:txBody>
      </p:sp>
      <p:sp>
        <p:nvSpPr>
          <p:cNvPr id="407" name="Google Shape;407;p42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For classification, prediction is usually the mode or most common class of the returned labels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For regression, prediction is usually the arithmetic mean (average, informally) of the returned values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catter plot of Sitting Height over Height for males and females." id="414" name="Google Shape;41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-57150"/>
            <a:ext cx="7886700" cy="513099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43"/>
          <p:cNvSpPr txBox="1"/>
          <p:nvPr/>
        </p:nvSpPr>
        <p:spPr>
          <a:xfrm>
            <a:off x="3771900" y="2857500"/>
            <a:ext cx="22506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/>
          </a:p>
        </p:txBody>
      </p:sp>
      <p:sp>
        <p:nvSpPr>
          <p:cNvPr id="416" name="Google Shape;416;p43"/>
          <p:cNvSpPr txBox="1"/>
          <p:nvPr/>
        </p:nvSpPr>
        <p:spPr>
          <a:xfrm>
            <a:off x="5600700" y="4807829"/>
            <a:ext cx="35433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https://www.researchgate.net/figure/Scatter-plot-of-Sitting-Height-over-Height-for-males-and-females_fig3_301724988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417" name="Google Shape;417;p43"/>
          <p:cNvSpPr txBox="1"/>
          <p:nvPr/>
        </p:nvSpPr>
        <p:spPr>
          <a:xfrm>
            <a:off x="4590436" y="2346192"/>
            <a:ext cx="340478" cy="3243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sp>
        <p:nvSpPr>
          <p:cNvPr id="418" name="Google Shape;418;p43"/>
          <p:cNvSpPr txBox="1"/>
          <p:nvPr/>
        </p:nvSpPr>
        <p:spPr>
          <a:xfrm>
            <a:off x="5260223" y="1543050"/>
            <a:ext cx="340478" cy="3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</a:t>
            </a:r>
            <a:endParaRPr sz="1100"/>
          </a:p>
        </p:txBody>
      </p:sp>
      <p:sp>
        <p:nvSpPr>
          <p:cNvPr id="419" name="Google Shape;419;p43"/>
          <p:cNvSpPr txBox="1"/>
          <p:nvPr/>
        </p:nvSpPr>
        <p:spPr>
          <a:xfrm>
            <a:off x="57150" y="4830912"/>
            <a:ext cx="3197029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sex from standing/sitting heights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4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016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Scatter plot of Sitting Height over Height for males and females." id="426" name="Google Shape;42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-57150"/>
            <a:ext cx="7886700" cy="5130995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4"/>
          <p:cNvSpPr txBox="1"/>
          <p:nvPr/>
        </p:nvSpPr>
        <p:spPr>
          <a:xfrm>
            <a:off x="3771900" y="4468714"/>
            <a:ext cx="225061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/>
          </a:p>
        </p:txBody>
      </p:sp>
      <p:sp>
        <p:nvSpPr>
          <p:cNvPr id="428" name="Google Shape;428;p44"/>
          <p:cNvSpPr txBox="1"/>
          <p:nvPr/>
        </p:nvSpPr>
        <p:spPr>
          <a:xfrm>
            <a:off x="5600700" y="4807829"/>
            <a:ext cx="354330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https://www.researchgate.net/figure/Scatter-plot-of-Sitting-Height-over-Height-for-males-and-females_fig3_301724988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429" name="Google Shape;429;p44"/>
          <p:cNvSpPr txBox="1"/>
          <p:nvPr/>
        </p:nvSpPr>
        <p:spPr>
          <a:xfrm>
            <a:off x="4919745" y="4416252"/>
            <a:ext cx="340478" cy="3567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100"/>
          </a:p>
        </p:txBody>
      </p:sp>
      <p:cxnSp>
        <p:nvCxnSpPr>
          <p:cNvPr id="430" name="Google Shape;430;p44"/>
          <p:cNvCxnSpPr/>
          <p:nvPr/>
        </p:nvCxnSpPr>
        <p:spPr>
          <a:xfrm rot="10800000">
            <a:off x="3884431" y="69655"/>
            <a:ext cx="0" cy="452496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31" name="Google Shape;431;p44"/>
          <p:cNvCxnSpPr/>
          <p:nvPr/>
        </p:nvCxnSpPr>
        <p:spPr>
          <a:xfrm rot="10800000">
            <a:off x="5064551" y="69655"/>
            <a:ext cx="0" cy="4524967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32" name="Google Shape;432;p44"/>
          <p:cNvSpPr txBox="1"/>
          <p:nvPr/>
        </p:nvSpPr>
        <p:spPr>
          <a:xfrm>
            <a:off x="57150" y="4830912"/>
            <a:ext cx="33413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sitting height from standing height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Classification Demos</a:t>
            </a:r>
            <a:endParaRPr/>
          </a:p>
        </p:txBody>
      </p:sp>
      <p:sp>
        <p:nvSpPr>
          <p:cNvPr id="438" name="Google Shape;438;p45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https://lecture-demo.ira.uka.de/knn-demo/#</a:t>
            </a:r>
            <a:r>
              <a:rPr lang="en"/>
              <a:t> 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 u="sng">
                <a:solidFill>
                  <a:schemeClr val="hlink"/>
                </a:solidFill>
                <a:hlinkClick r:id="rId4"/>
              </a:rPr>
              <a:t>http://vision.stanford.edu/teaching/cs231n-demos/knn/</a:t>
            </a:r>
            <a:endParaRPr/>
          </a:p>
          <a:p>
            <a:pPr indent="-1016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Comments on K-NN</a:t>
            </a:r>
            <a:endParaRPr/>
          </a:p>
        </p:txBody>
      </p:sp>
      <p:sp>
        <p:nvSpPr>
          <p:cNvPr id="444" name="Google Shape;444;p46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-1780" l="-776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445" name="Google Shape;445;p46"/>
          <p:cNvSpPr txBox="1"/>
          <p:nvPr/>
        </p:nvSpPr>
        <p:spPr>
          <a:xfrm>
            <a:off x="6686550" y="2228850"/>
            <a:ext cx="171585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precomputed</a:t>
            </a:r>
            <a:endParaRPr sz="1100"/>
          </a:p>
        </p:txBody>
      </p:sp>
      <p:cxnSp>
        <p:nvCxnSpPr>
          <p:cNvPr id="446" name="Google Shape;446;p46"/>
          <p:cNvCxnSpPr/>
          <p:nvPr/>
        </p:nvCxnSpPr>
        <p:spPr>
          <a:xfrm flipH="1">
            <a:off x="6858000" y="2457450"/>
            <a:ext cx="57150" cy="114300"/>
          </a:xfrm>
          <a:prstGeom prst="straightConnector1">
            <a:avLst/>
          </a:prstGeom>
          <a:noFill/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47"/>
          <p:cNvSpPr txBox="1"/>
          <p:nvPr>
            <p:ph idx="1" type="body"/>
          </p:nvPr>
        </p:nvSpPr>
        <p:spPr>
          <a:xfrm>
            <a:off x="457200" y="742950"/>
            <a:ext cx="4343400" cy="385167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88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452" name="Google Shape;452;p4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measure and analyze classification error?</a:t>
            </a:r>
            <a:endParaRPr/>
          </a:p>
        </p:txBody>
      </p:sp>
      <p:pic>
        <p:nvPicPr>
          <p:cNvPr descr="Confusion matrix — scikit-learn 1.2.0 documentation" id="453" name="Google Shape;45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0" y="2514599"/>
            <a:ext cx="25908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7"/>
          <p:cNvSpPr txBox="1"/>
          <p:nvPr/>
        </p:nvSpPr>
        <p:spPr>
          <a:xfrm>
            <a:off x="7372350" y="3134130"/>
            <a:ext cx="1085850" cy="7040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https://scikit-learn.org/stable/auto_examples/model_selection/plot_confusion_matrix.html</a:t>
            </a: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Measuring error example</a:t>
            </a:r>
            <a:endParaRPr/>
          </a:p>
        </p:txBody>
      </p:sp>
      <p:graphicFrame>
        <p:nvGraphicFramePr>
          <p:cNvPr id="460" name="Google Shape;460;p48"/>
          <p:cNvGraphicFramePr/>
          <p:nvPr/>
        </p:nvGraphicFramePr>
        <p:xfrm>
          <a:off x="3429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{3DFF0213-A29E-42BF-AE5D-BAA05291C3D5}</a:tableStyleId>
              </a:tblPr>
              <a:tblGrid>
                <a:gridCol w="888975"/>
                <a:gridCol w="888975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True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Predicted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461" name="Google Shape;461;p48"/>
          <p:cNvSpPr txBox="1"/>
          <p:nvPr/>
        </p:nvSpPr>
        <p:spPr>
          <a:xfrm>
            <a:off x="2457450" y="2391787"/>
            <a:ext cx="168700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Classification Error: </a:t>
            </a:r>
            <a:endParaRPr sz="1100"/>
          </a:p>
        </p:txBody>
      </p:sp>
      <p:sp>
        <p:nvSpPr>
          <p:cNvPr id="462" name="Google Shape;462;p48"/>
          <p:cNvSpPr txBox="1"/>
          <p:nvPr/>
        </p:nvSpPr>
        <p:spPr>
          <a:xfrm>
            <a:off x="5382158" y="733098"/>
            <a:ext cx="15331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Confusion Matrix: </a:t>
            </a:r>
            <a:endParaRPr sz="1100"/>
          </a:p>
        </p:txBody>
      </p:sp>
      <p:graphicFrame>
        <p:nvGraphicFramePr>
          <p:cNvPr id="463" name="Google Shape;463;p48"/>
          <p:cNvGraphicFramePr/>
          <p:nvPr/>
        </p:nvGraphicFramePr>
        <p:xfrm>
          <a:off x="531445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{8993AB5B-174E-4A35-80BA-62F0E6D66093}</a:tableStyleId>
              </a:tblPr>
              <a:tblGrid>
                <a:gridCol w="473200"/>
                <a:gridCol w="473200"/>
                <a:gridCol w="473200"/>
                <a:gridCol w="4732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Predicted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True</a:t>
                      </a:r>
                      <a:endParaRPr sz="1100"/>
                    </a:p>
                  </a:txBody>
                  <a:tcPr marT="34300" marB="34300" marR="68600" marL="6860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graphicFrame>
        <p:nvGraphicFramePr>
          <p:cNvPr id="464" name="Google Shape;464;p48"/>
          <p:cNvGraphicFramePr/>
          <p:nvPr/>
        </p:nvGraphicFramePr>
        <p:xfrm>
          <a:off x="5362872" y="317595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{8993AB5B-174E-4A35-80BA-62F0E6D66093}</a:tableStyleId>
              </a:tblPr>
              <a:tblGrid>
                <a:gridCol w="473200"/>
                <a:gridCol w="473200"/>
                <a:gridCol w="473200"/>
                <a:gridCol w="473200"/>
              </a:tblGrid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Predicted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 hMerge="1"/>
              </a:tr>
              <a:tr h="278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</a:tr>
              <a:tr h="27812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True</a:t>
                      </a:r>
                      <a:endParaRPr sz="1100"/>
                    </a:p>
                  </a:txBody>
                  <a:tcPr marT="34300" marB="34300" marR="68600" marL="6860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N</a:t>
                      </a:r>
                      <a:endParaRPr sz="1100"/>
                    </a:p>
                  </a:txBody>
                  <a:tcPr marT="34300" marB="34300" marR="68600" marL="68600"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  <a:tr h="2781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/>
                        <a:t>Y</a:t>
                      </a:r>
                      <a:endParaRPr sz="11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  <p:sp>
        <p:nvSpPr>
          <p:cNvPr id="465" name="Google Shape;465;p48"/>
          <p:cNvSpPr txBox="1"/>
          <p:nvPr/>
        </p:nvSpPr>
        <p:spPr>
          <a:xfrm>
            <a:off x="5373901" y="1123850"/>
            <a:ext cx="7308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Count</a:t>
            </a:r>
            <a:endParaRPr sz="1100"/>
          </a:p>
        </p:txBody>
      </p:sp>
      <p:sp>
        <p:nvSpPr>
          <p:cNvPr id="466" name="Google Shape;466;p48"/>
          <p:cNvSpPr txBox="1"/>
          <p:nvPr/>
        </p:nvSpPr>
        <p:spPr>
          <a:xfrm>
            <a:off x="5429250" y="2898950"/>
            <a:ext cx="2052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P(predicted | true)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9"/>
          <p:cNvSpPr txBox="1"/>
          <p:nvPr>
            <p:ph idx="1" type="body"/>
          </p:nvPr>
        </p:nvSpPr>
        <p:spPr>
          <a:xfrm>
            <a:off x="457200" y="742950"/>
            <a:ext cx="4343400" cy="45148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788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 </a:t>
            </a:r>
            <a:endParaRPr/>
          </a:p>
        </p:txBody>
      </p:sp>
      <p:sp>
        <p:nvSpPr>
          <p:cNvPr id="472" name="Google Shape;472;p4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measure and analyze regression error?</a:t>
            </a:r>
            <a:endParaRPr/>
          </a:p>
        </p:txBody>
      </p:sp>
      <p:sp>
        <p:nvSpPr>
          <p:cNvPr id="473" name="Google Shape;473;p49"/>
          <p:cNvSpPr txBox="1"/>
          <p:nvPr/>
        </p:nvSpPr>
        <p:spPr>
          <a:xfrm>
            <a:off x="2914650" y="2922520"/>
            <a:ext cx="3086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(unexplained variance)</a:t>
            </a:r>
            <a:endParaRPr sz="1100"/>
          </a:p>
        </p:txBody>
      </p:sp>
      <p:sp>
        <p:nvSpPr>
          <p:cNvPr id="474" name="Google Shape;474;p49"/>
          <p:cNvSpPr txBox="1"/>
          <p:nvPr/>
        </p:nvSpPr>
        <p:spPr>
          <a:xfrm>
            <a:off x="2908387" y="3183428"/>
            <a:ext cx="30861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(total variance)</a:t>
            </a:r>
            <a:endParaRPr sz="1100"/>
          </a:p>
        </p:txBody>
      </p:sp>
      <p:sp>
        <p:nvSpPr>
          <p:cNvPr id="475" name="Google Shape;475;p49"/>
          <p:cNvSpPr txBox="1"/>
          <p:nvPr/>
        </p:nvSpPr>
        <p:spPr>
          <a:xfrm>
            <a:off x="4457700" y="4677495"/>
            <a:ext cx="4570434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Fig: </a:t>
            </a:r>
            <a:r>
              <a:rPr lang="en" sz="9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https://medium.com/analytics-vidhya/mae-mse-rmse-coefficient-of-determination-adjusted-r-squared-which-metric-is-better-cd0326a5697e</a:t>
            </a:r>
            <a:r>
              <a:rPr lang="en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pic>
        <p:nvPicPr>
          <p:cNvPr id="476" name="Google Shape;476;p49"/>
          <p:cNvPicPr preferRelativeResize="0"/>
          <p:nvPr/>
        </p:nvPicPr>
        <p:blipFill rotWithShape="1">
          <a:blip r:embed="rId5">
            <a:alphaModFix/>
          </a:blip>
          <a:srcRect b="0" l="0" r="22098" t="0"/>
          <a:stretch/>
        </p:blipFill>
        <p:spPr>
          <a:xfrm>
            <a:off x="5451170" y="1072036"/>
            <a:ext cx="3228584" cy="2331241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9"/>
          <p:cNvSpPr txBox="1"/>
          <p:nvPr/>
        </p:nvSpPr>
        <p:spPr>
          <a:xfrm>
            <a:off x="5657850" y="1509803"/>
            <a:ext cx="4572000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4753" l="0" r="0" t="0"/>
            </a:stretch>
          </a:blip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 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0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Dataset: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Hypothesis Class: </a:t>
            </a:r>
            <a:endParaRPr/>
          </a:p>
        </p:txBody>
      </p:sp>
      <p:sp>
        <p:nvSpPr>
          <p:cNvPr id="483" name="Google Shape;483;p5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 of the pipeline</a:t>
            </a:r>
            <a:endParaRPr/>
          </a:p>
        </p:txBody>
      </p:sp>
      <p:pic>
        <p:nvPicPr>
          <p:cNvPr id="484" name="Google Shape;48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875" y="803950"/>
            <a:ext cx="7027226" cy="3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432" y="1672650"/>
            <a:ext cx="1131694" cy="3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0250" y="2541346"/>
            <a:ext cx="1131700" cy="32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51"/>
          <p:cNvSpPr txBox="1"/>
          <p:nvPr/>
        </p:nvSpPr>
        <p:spPr>
          <a:xfrm>
            <a:off x="3814400" y="2435375"/>
            <a:ext cx="4376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i.e.</a:t>
            </a: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a large family of NNs with different parameters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51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Dataset: 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Hypothesis: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Hypothesis Class: </a:t>
            </a:r>
            <a:endParaRPr/>
          </a:p>
        </p:txBody>
      </p:sp>
      <p:sp>
        <p:nvSpPr>
          <p:cNvPr id="493" name="Google Shape;493;p51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Mathematical formulation of the pipeline</a:t>
            </a:r>
            <a:endParaRPr/>
          </a:p>
        </p:txBody>
      </p:sp>
      <p:pic>
        <p:nvPicPr>
          <p:cNvPr id="494" name="Google Shape;494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9875" y="803950"/>
            <a:ext cx="7027226" cy="325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4432" y="1672650"/>
            <a:ext cx="1131694" cy="32597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1"/>
          <p:cNvSpPr txBox="1"/>
          <p:nvPr/>
        </p:nvSpPr>
        <p:spPr>
          <a:xfrm>
            <a:off x="3616400" y="1497075"/>
            <a:ext cx="4376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E.g. a Neural Network based classifier that maps image to label of cat or dog</a:t>
            </a:r>
            <a:endParaRPr sz="16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0250" y="2541346"/>
            <a:ext cx="1131700" cy="325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2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Train, Test and Validation Set - Intuition</a:t>
            </a:r>
            <a:endParaRPr/>
          </a:p>
        </p:txBody>
      </p:sp>
      <p:sp>
        <p:nvSpPr>
          <p:cNvPr id="503" name="Google Shape;503;p52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https://mlu-explain.github.io/train-test-validation/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3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test error for a trained model</a:t>
            </a:r>
            <a:endParaRPr/>
          </a:p>
        </p:txBody>
      </p:sp>
      <p:sp>
        <p:nvSpPr>
          <p:cNvPr id="510" name="Google Shape;510;p53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-25908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Intrinsic</a:t>
            </a:r>
            <a:r>
              <a:rPr lang="en"/>
              <a:t>: sometimes it is not possible to achieve zero error given available features (e.g. handwriting, weather prediction)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Bayes optimal error: The error if the true function P(y|x) is known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Model Bias</a:t>
            </a:r>
            <a:r>
              <a:rPr lang="en"/>
              <a:t>: the model is limited so that Bayes optimal error cannot be achieved for an infinite training set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Model Variance</a:t>
            </a:r>
            <a:r>
              <a:rPr lang="en"/>
              <a:t>: given finite training data, different parameters and predictions would result from different samplings of data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Distribution Shift</a:t>
            </a:r>
            <a:r>
              <a:rPr lang="en"/>
              <a:t>: some examples are more likely in test than training, i.e. true P(x) is different for train and test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E.g., datasets are collected at different times and frequency of content has changed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-25908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"/>
              <a:t>Function Shift</a:t>
            </a:r>
            <a:r>
              <a:rPr lang="en"/>
              <a:t>: P(y|x) is changed between train and test</a:t>
            </a:r>
            <a:endParaRPr/>
          </a:p>
          <a:p>
            <a:pPr indent="-220345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E.g., the predicted answer to “What is your favorite TV show?” changes over time</a:t>
            </a:r>
            <a:endParaRPr/>
          </a:p>
        </p:txBody>
      </p:sp>
      <p:sp>
        <p:nvSpPr>
          <p:cNvPr id="511" name="Google Shape;511;p53"/>
          <p:cNvSpPr txBox="1"/>
          <p:nvPr/>
        </p:nvSpPr>
        <p:spPr>
          <a:xfrm>
            <a:off x="457200" y="4594625"/>
            <a:ext cx="6791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Others: imperfect optimization, final performance measure is different than training loss</a:t>
            </a:r>
            <a:endParaRPr sz="1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4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 of Training Size</a:t>
            </a:r>
            <a:endParaRPr/>
          </a:p>
        </p:txBody>
      </p:sp>
      <p:pic>
        <p:nvPicPr>
          <p:cNvPr id="517" name="Google Shape;51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675" y="859725"/>
            <a:ext cx="6805082" cy="4152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5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Sources of error and training size</a:t>
            </a:r>
            <a:endParaRPr/>
          </a:p>
        </p:txBody>
      </p:sp>
      <p:sp>
        <p:nvSpPr>
          <p:cNvPr id="523" name="Google Shape;523;p55"/>
          <p:cNvSpPr/>
          <p:nvPr/>
        </p:nvSpPr>
        <p:spPr>
          <a:xfrm>
            <a:off x="581025" y="2341960"/>
            <a:ext cx="3288506" cy="1012031"/>
          </a:xfrm>
          <a:custGeom>
            <a:rect b="b" l="l" r="r" t="t"/>
            <a:pathLst>
              <a:path extrusionOk="0" h="1349049" w="4384110">
                <a:moveTo>
                  <a:pt x="0" y="0"/>
                </a:moveTo>
                <a:cubicBezTo>
                  <a:pt x="3399" y="20392"/>
                  <a:pt x="10368" y="86303"/>
                  <a:pt x="25052" y="112734"/>
                </a:cubicBezTo>
                <a:cubicBezTo>
                  <a:pt x="39674" y="139054"/>
                  <a:pt x="50104" y="171189"/>
                  <a:pt x="75156" y="187890"/>
                </a:cubicBezTo>
                <a:cubicBezTo>
                  <a:pt x="87682" y="196241"/>
                  <a:pt x="100978" y="203538"/>
                  <a:pt x="112734" y="212942"/>
                </a:cubicBezTo>
                <a:cubicBezTo>
                  <a:pt x="121956" y="220319"/>
                  <a:pt x="127224" y="232712"/>
                  <a:pt x="137787" y="237994"/>
                </a:cubicBezTo>
                <a:cubicBezTo>
                  <a:pt x="161406" y="249804"/>
                  <a:pt x="187891" y="254696"/>
                  <a:pt x="212943" y="263047"/>
                </a:cubicBezTo>
                <a:lnTo>
                  <a:pt x="250521" y="275573"/>
                </a:lnTo>
                <a:cubicBezTo>
                  <a:pt x="258872" y="288099"/>
                  <a:pt x="263818" y="303747"/>
                  <a:pt x="275573" y="313151"/>
                </a:cubicBezTo>
                <a:cubicBezTo>
                  <a:pt x="285883" y="321399"/>
                  <a:pt x="301341" y="319772"/>
                  <a:pt x="313151" y="325677"/>
                </a:cubicBezTo>
                <a:cubicBezTo>
                  <a:pt x="326616" y="332410"/>
                  <a:pt x="336972" y="344615"/>
                  <a:pt x="350729" y="350729"/>
                </a:cubicBezTo>
                <a:cubicBezTo>
                  <a:pt x="374860" y="361454"/>
                  <a:pt x="400833" y="367430"/>
                  <a:pt x="425885" y="375781"/>
                </a:cubicBezTo>
                <a:cubicBezTo>
                  <a:pt x="438411" y="379956"/>
                  <a:pt x="450654" y="385105"/>
                  <a:pt x="463463" y="388307"/>
                </a:cubicBezTo>
                <a:cubicBezTo>
                  <a:pt x="480164" y="392482"/>
                  <a:pt x="497448" y="394788"/>
                  <a:pt x="513567" y="400833"/>
                </a:cubicBezTo>
                <a:cubicBezTo>
                  <a:pt x="531051" y="407389"/>
                  <a:pt x="546508" y="418530"/>
                  <a:pt x="563671" y="425885"/>
                </a:cubicBezTo>
                <a:cubicBezTo>
                  <a:pt x="588827" y="436666"/>
                  <a:pt x="625931" y="444581"/>
                  <a:pt x="651354" y="450937"/>
                </a:cubicBezTo>
                <a:cubicBezTo>
                  <a:pt x="663880" y="459288"/>
                  <a:pt x="675467" y="469256"/>
                  <a:pt x="688932" y="475989"/>
                </a:cubicBezTo>
                <a:cubicBezTo>
                  <a:pt x="706902" y="484974"/>
                  <a:pt x="760561" y="497028"/>
                  <a:pt x="776614" y="501041"/>
                </a:cubicBezTo>
                <a:cubicBezTo>
                  <a:pt x="789140" y="509392"/>
                  <a:pt x="800355" y="520163"/>
                  <a:pt x="814192" y="526093"/>
                </a:cubicBezTo>
                <a:cubicBezTo>
                  <a:pt x="863207" y="547099"/>
                  <a:pt x="888932" y="529991"/>
                  <a:pt x="939452" y="563671"/>
                </a:cubicBezTo>
                <a:cubicBezTo>
                  <a:pt x="951978" y="572022"/>
                  <a:pt x="963565" y="581990"/>
                  <a:pt x="977030" y="588723"/>
                </a:cubicBezTo>
                <a:cubicBezTo>
                  <a:pt x="998079" y="599248"/>
                  <a:pt x="1044645" y="607755"/>
                  <a:pt x="1064713" y="613775"/>
                </a:cubicBezTo>
                <a:cubicBezTo>
                  <a:pt x="1090006" y="621363"/>
                  <a:pt x="1114817" y="630476"/>
                  <a:pt x="1139869" y="638827"/>
                </a:cubicBezTo>
                <a:cubicBezTo>
                  <a:pt x="1152395" y="643002"/>
                  <a:pt x="1166461" y="644029"/>
                  <a:pt x="1177447" y="651353"/>
                </a:cubicBezTo>
                <a:cubicBezTo>
                  <a:pt x="1189973" y="659704"/>
                  <a:pt x="1200929" y="671119"/>
                  <a:pt x="1215025" y="676405"/>
                </a:cubicBezTo>
                <a:cubicBezTo>
                  <a:pt x="1234960" y="683880"/>
                  <a:pt x="1256778" y="684756"/>
                  <a:pt x="1277655" y="688931"/>
                </a:cubicBezTo>
                <a:cubicBezTo>
                  <a:pt x="1290181" y="697282"/>
                  <a:pt x="1301396" y="708054"/>
                  <a:pt x="1315233" y="713984"/>
                </a:cubicBezTo>
                <a:cubicBezTo>
                  <a:pt x="1343613" y="726147"/>
                  <a:pt x="1375491" y="723800"/>
                  <a:pt x="1402915" y="739036"/>
                </a:cubicBezTo>
                <a:cubicBezTo>
                  <a:pt x="1429235" y="753658"/>
                  <a:pt x="1453019" y="772439"/>
                  <a:pt x="1478071" y="789140"/>
                </a:cubicBezTo>
                <a:cubicBezTo>
                  <a:pt x="1490597" y="797491"/>
                  <a:pt x="1501368" y="809431"/>
                  <a:pt x="1515650" y="814192"/>
                </a:cubicBezTo>
                <a:lnTo>
                  <a:pt x="1665962" y="864296"/>
                </a:lnTo>
                <a:lnTo>
                  <a:pt x="1703540" y="876822"/>
                </a:lnTo>
                <a:cubicBezTo>
                  <a:pt x="1716066" y="880997"/>
                  <a:pt x="1730132" y="882024"/>
                  <a:pt x="1741118" y="889348"/>
                </a:cubicBezTo>
                <a:cubicBezTo>
                  <a:pt x="1825817" y="945814"/>
                  <a:pt x="1720920" y="878127"/>
                  <a:pt x="1853852" y="951978"/>
                </a:cubicBezTo>
                <a:cubicBezTo>
                  <a:pt x="1867012" y="959289"/>
                  <a:pt x="1879865" y="967392"/>
                  <a:pt x="1891430" y="977030"/>
                </a:cubicBezTo>
                <a:cubicBezTo>
                  <a:pt x="1905039" y="988371"/>
                  <a:pt x="1913523" y="1006005"/>
                  <a:pt x="1929008" y="1014608"/>
                </a:cubicBezTo>
                <a:cubicBezTo>
                  <a:pt x="1952092" y="1027433"/>
                  <a:pt x="1979113" y="1031309"/>
                  <a:pt x="2004165" y="1039660"/>
                </a:cubicBezTo>
                <a:cubicBezTo>
                  <a:pt x="2016691" y="1043835"/>
                  <a:pt x="2028545" y="1051809"/>
                  <a:pt x="2041743" y="1052186"/>
                </a:cubicBezTo>
                <a:cubicBezTo>
                  <a:pt x="2559563" y="1066981"/>
                  <a:pt x="2334159" y="1057028"/>
                  <a:pt x="2718148" y="1077238"/>
                </a:cubicBezTo>
                <a:cubicBezTo>
                  <a:pt x="2825020" y="1112862"/>
                  <a:pt x="2713179" y="1079151"/>
                  <a:pt x="2956143" y="1102290"/>
                </a:cubicBezTo>
                <a:cubicBezTo>
                  <a:pt x="2977337" y="1104308"/>
                  <a:pt x="2997896" y="1110641"/>
                  <a:pt x="3018773" y="1114816"/>
                </a:cubicBezTo>
                <a:cubicBezTo>
                  <a:pt x="3039650" y="1127342"/>
                  <a:pt x="3059239" y="1142319"/>
                  <a:pt x="3081403" y="1152394"/>
                </a:cubicBezTo>
                <a:cubicBezTo>
                  <a:pt x="3170790" y="1193025"/>
                  <a:pt x="3222018" y="1182123"/>
                  <a:pt x="3331924" y="1189973"/>
                </a:cubicBezTo>
                <a:cubicBezTo>
                  <a:pt x="3373677" y="1198324"/>
                  <a:pt x="3415875" y="1204698"/>
                  <a:pt x="3457184" y="1215025"/>
                </a:cubicBezTo>
                <a:cubicBezTo>
                  <a:pt x="3473885" y="1219200"/>
                  <a:pt x="3490273" y="1224933"/>
                  <a:pt x="3507288" y="1227551"/>
                </a:cubicBezTo>
                <a:cubicBezTo>
                  <a:pt x="3544658" y="1233300"/>
                  <a:pt x="3582444" y="1235902"/>
                  <a:pt x="3620022" y="1240077"/>
                </a:cubicBezTo>
                <a:cubicBezTo>
                  <a:pt x="3632548" y="1244252"/>
                  <a:pt x="3644417" y="1251871"/>
                  <a:pt x="3657600" y="1252603"/>
                </a:cubicBezTo>
                <a:cubicBezTo>
                  <a:pt x="3870378" y="1264424"/>
                  <a:pt x="4296428" y="1277655"/>
                  <a:pt x="4296428" y="1277655"/>
                </a:cubicBezTo>
                <a:cubicBezTo>
                  <a:pt x="4376497" y="1331034"/>
                  <a:pt x="4350294" y="1349049"/>
                  <a:pt x="4384110" y="1315233"/>
                </a:cubicBez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55"/>
          <p:cNvSpPr/>
          <p:nvPr/>
        </p:nvSpPr>
        <p:spPr>
          <a:xfrm>
            <a:off x="571500" y="3589734"/>
            <a:ext cx="3278981" cy="406003"/>
          </a:xfrm>
          <a:custGeom>
            <a:rect b="b" l="l" r="r" t="t"/>
            <a:pathLst>
              <a:path extrusionOk="0" h="541208" w="4371584">
                <a:moveTo>
                  <a:pt x="0" y="541208"/>
                </a:moveTo>
                <a:cubicBezTo>
                  <a:pt x="150312" y="537033"/>
                  <a:pt x="300949" y="539395"/>
                  <a:pt x="450937" y="528682"/>
                </a:cubicBezTo>
                <a:cubicBezTo>
                  <a:pt x="489909" y="525898"/>
                  <a:pt x="525396" y="498759"/>
                  <a:pt x="563671" y="491104"/>
                </a:cubicBezTo>
                <a:cubicBezTo>
                  <a:pt x="584548" y="486929"/>
                  <a:pt x="605301" y="482078"/>
                  <a:pt x="626302" y="478578"/>
                </a:cubicBezTo>
                <a:cubicBezTo>
                  <a:pt x="689933" y="467973"/>
                  <a:pt x="717575" y="468286"/>
                  <a:pt x="776614" y="453526"/>
                </a:cubicBezTo>
                <a:cubicBezTo>
                  <a:pt x="839580" y="437784"/>
                  <a:pt x="790543" y="446562"/>
                  <a:pt x="851770" y="415948"/>
                </a:cubicBezTo>
                <a:cubicBezTo>
                  <a:pt x="863580" y="410043"/>
                  <a:pt x="876822" y="407597"/>
                  <a:pt x="889348" y="403421"/>
                </a:cubicBezTo>
                <a:cubicBezTo>
                  <a:pt x="897699" y="390895"/>
                  <a:pt x="902645" y="375247"/>
                  <a:pt x="914400" y="365843"/>
                </a:cubicBezTo>
                <a:cubicBezTo>
                  <a:pt x="924710" y="357595"/>
                  <a:pt x="939240" y="356791"/>
                  <a:pt x="951978" y="353317"/>
                </a:cubicBezTo>
                <a:cubicBezTo>
                  <a:pt x="985195" y="344258"/>
                  <a:pt x="1018424" y="335017"/>
                  <a:pt x="1052186" y="328265"/>
                </a:cubicBezTo>
                <a:lnTo>
                  <a:pt x="1177447" y="303213"/>
                </a:lnTo>
                <a:cubicBezTo>
                  <a:pt x="1416179" y="255467"/>
                  <a:pt x="1218781" y="291182"/>
                  <a:pt x="1778696" y="278161"/>
                </a:cubicBezTo>
                <a:cubicBezTo>
                  <a:pt x="1931317" y="227287"/>
                  <a:pt x="1767086" y="278104"/>
                  <a:pt x="2167003" y="253109"/>
                </a:cubicBezTo>
                <a:cubicBezTo>
                  <a:pt x="2184185" y="252035"/>
                  <a:pt x="2200274" y="244190"/>
                  <a:pt x="2217107" y="240583"/>
                </a:cubicBezTo>
                <a:cubicBezTo>
                  <a:pt x="2258742" y="231661"/>
                  <a:pt x="2301058" y="225858"/>
                  <a:pt x="2342367" y="215531"/>
                </a:cubicBezTo>
                <a:cubicBezTo>
                  <a:pt x="2359068" y="211356"/>
                  <a:pt x="2375341" y="204718"/>
                  <a:pt x="2392471" y="203005"/>
                </a:cubicBezTo>
                <a:cubicBezTo>
                  <a:pt x="2459075" y="196345"/>
                  <a:pt x="2526082" y="194654"/>
                  <a:pt x="2592888" y="190479"/>
                </a:cubicBezTo>
                <a:cubicBezTo>
                  <a:pt x="2634735" y="176530"/>
                  <a:pt x="2633385" y="175913"/>
                  <a:pt x="2680570" y="165427"/>
                </a:cubicBezTo>
                <a:cubicBezTo>
                  <a:pt x="2701353" y="160809"/>
                  <a:pt x="2722417" y="157519"/>
                  <a:pt x="2743200" y="152901"/>
                </a:cubicBezTo>
                <a:cubicBezTo>
                  <a:pt x="2760005" y="149166"/>
                  <a:pt x="2776139" y="141695"/>
                  <a:pt x="2793304" y="140375"/>
                </a:cubicBezTo>
                <a:cubicBezTo>
                  <a:pt x="2884986" y="133323"/>
                  <a:pt x="2977019" y="132024"/>
                  <a:pt x="3068877" y="127849"/>
                </a:cubicBezTo>
                <a:cubicBezTo>
                  <a:pt x="3237973" y="71484"/>
                  <a:pt x="3085502" y="118308"/>
                  <a:pt x="3519814" y="102797"/>
                </a:cubicBezTo>
                <a:lnTo>
                  <a:pt x="3807913" y="90271"/>
                </a:lnTo>
                <a:cubicBezTo>
                  <a:pt x="3896437" y="72566"/>
                  <a:pt x="3850345" y="84478"/>
                  <a:pt x="3945699" y="52693"/>
                </a:cubicBezTo>
                <a:cubicBezTo>
                  <a:pt x="3958225" y="48518"/>
                  <a:pt x="3970092" y="40861"/>
                  <a:pt x="3983277" y="40167"/>
                </a:cubicBezTo>
                <a:lnTo>
                  <a:pt x="4221271" y="27641"/>
                </a:lnTo>
                <a:cubicBezTo>
                  <a:pt x="4237973" y="23466"/>
                  <a:pt x="4254823" y="19844"/>
                  <a:pt x="4271376" y="15115"/>
                </a:cubicBezTo>
                <a:cubicBezTo>
                  <a:pt x="4284072" y="11488"/>
                  <a:pt x="4295852" y="4227"/>
                  <a:pt x="4308954" y="2589"/>
                </a:cubicBezTo>
                <a:cubicBezTo>
                  <a:pt x="4329669" y="0"/>
                  <a:pt x="4350707" y="2589"/>
                  <a:pt x="4371584" y="2589"/>
                </a:cubicBezTo>
              </a:path>
            </a:pathLst>
          </a:custGeom>
          <a:noFill/>
          <a:ln cap="flat" cmpd="sng" w="38100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55"/>
          <p:cNvSpPr txBox="1"/>
          <p:nvPr/>
        </p:nvSpPr>
        <p:spPr>
          <a:xfrm>
            <a:off x="914400" y="2368325"/>
            <a:ext cx="9465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Testing</a:t>
            </a:r>
            <a:endParaRPr sz="1100"/>
          </a:p>
        </p:txBody>
      </p:sp>
      <p:sp>
        <p:nvSpPr>
          <p:cNvPr id="526" name="Google Shape;526;p55"/>
          <p:cNvSpPr txBox="1"/>
          <p:nvPr/>
        </p:nvSpPr>
        <p:spPr>
          <a:xfrm>
            <a:off x="2216952" y="3731425"/>
            <a:ext cx="10809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Training</a:t>
            </a:r>
            <a:endParaRPr sz="1100"/>
          </a:p>
        </p:txBody>
      </p:sp>
      <p:grpSp>
        <p:nvGrpSpPr>
          <p:cNvPr id="527" name="Google Shape;527;p55"/>
          <p:cNvGrpSpPr/>
          <p:nvPr/>
        </p:nvGrpSpPr>
        <p:grpSpPr>
          <a:xfrm>
            <a:off x="285755" y="1609725"/>
            <a:ext cx="3592110" cy="2676525"/>
            <a:chOff x="1535675" y="2667794"/>
            <a:chExt cx="4788925" cy="3568938"/>
          </a:xfrm>
        </p:grpSpPr>
        <p:cxnSp>
          <p:nvCxnSpPr>
            <p:cNvPr id="528" name="Google Shape;528;p55"/>
            <p:cNvCxnSpPr/>
            <p:nvPr/>
          </p:nvCxnSpPr>
          <p:spPr>
            <a:xfrm flipH="1" rot="10800000">
              <a:off x="1905512" y="5866819"/>
              <a:ext cx="4419088" cy="15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29" name="Google Shape;529;p55"/>
            <p:cNvSpPr txBox="1"/>
            <p:nvPr/>
          </p:nvSpPr>
          <p:spPr>
            <a:xfrm>
              <a:off x="2743200" y="5867400"/>
              <a:ext cx="32240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Number of Training Examples</a:t>
              </a:r>
              <a:endParaRPr sz="1100"/>
            </a:p>
          </p:txBody>
        </p:sp>
        <p:sp>
          <p:nvSpPr>
            <p:cNvPr id="530" name="Google Shape;530;p55"/>
            <p:cNvSpPr txBox="1"/>
            <p:nvPr/>
          </p:nvSpPr>
          <p:spPr>
            <a:xfrm rot="-5400000">
              <a:off x="1265225" y="4025153"/>
              <a:ext cx="920400" cy="37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Error</a:t>
              </a:r>
              <a:endParaRPr sz="1100"/>
            </a:p>
          </p:txBody>
        </p:sp>
        <p:cxnSp>
          <p:nvCxnSpPr>
            <p:cNvPr id="531" name="Google Shape;531;p55"/>
            <p:cNvCxnSpPr/>
            <p:nvPr/>
          </p:nvCxnSpPr>
          <p:spPr>
            <a:xfrm rot="-5400000">
              <a:off x="304413" y="4267307"/>
              <a:ext cx="3200613" cy="1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  <p:sp>
        <p:nvSpPr>
          <p:cNvPr id="532" name="Google Shape;532;p55"/>
          <p:cNvSpPr txBox="1"/>
          <p:nvPr/>
        </p:nvSpPr>
        <p:spPr>
          <a:xfrm>
            <a:off x="1494840" y="1306784"/>
            <a:ext cx="108106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Fixed model</a:t>
            </a:r>
            <a:endParaRPr sz="1100"/>
          </a:p>
        </p:txBody>
      </p:sp>
      <p:cxnSp>
        <p:nvCxnSpPr>
          <p:cNvPr id="533" name="Google Shape;533;p55"/>
          <p:cNvCxnSpPr/>
          <p:nvPr/>
        </p:nvCxnSpPr>
        <p:spPr>
          <a:xfrm>
            <a:off x="581025" y="3358833"/>
            <a:ext cx="5659040" cy="1059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534" name="Google Shape;534;p55"/>
          <p:cNvCxnSpPr/>
          <p:nvPr/>
        </p:nvCxnSpPr>
        <p:spPr>
          <a:xfrm>
            <a:off x="620315" y="3477817"/>
            <a:ext cx="5659039" cy="105966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535" name="Google Shape;535;p55"/>
          <p:cNvSpPr txBox="1"/>
          <p:nvPr/>
        </p:nvSpPr>
        <p:spPr>
          <a:xfrm>
            <a:off x="4222832" y="3252328"/>
            <a:ext cx="2006799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 error with infinite training examples</a:t>
            </a:r>
            <a:endParaRPr sz="1100"/>
          </a:p>
        </p:txBody>
      </p:sp>
      <p:sp>
        <p:nvSpPr>
          <p:cNvPr id="536" name="Google Shape;536;p55"/>
          <p:cNvSpPr txBox="1"/>
          <p:nvPr/>
        </p:nvSpPr>
        <p:spPr>
          <a:xfrm>
            <a:off x="4204394" y="3536339"/>
            <a:ext cx="2066912" cy="19620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 error with infinite training examples</a:t>
            </a:r>
            <a:endParaRPr sz="1100"/>
          </a:p>
        </p:txBody>
      </p:sp>
      <p:sp>
        <p:nvSpPr>
          <p:cNvPr id="537" name="Google Shape;537;p55"/>
          <p:cNvSpPr/>
          <p:nvPr/>
        </p:nvSpPr>
        <p:spPr>
          <a:xfrm>
            <a:off x="6343650" y="3448536"/>
            <a:ext cx="57150" cy="13524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55"/>
          <p:cNvSpPr txBox="1"/>
          <p:nvPr/>
        </p:nvSpPr>
        <p:spPr>
          <a:xfrm>
            <a:off x="6457950" y="3292375"/>
            <a:ext cx="2339895" cy="43858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difference in P(y|x) in training and test (function shift)</a:t>
            </a:r>
            <a:endParaRPr sz="1100"/>
          </a:p>
        </p:txBody>
      </p:sp>
      <p:sp>
        <p:nvSpPr>
          <p:cNvPr id="539" name="Google Shape;539;p55"/>
          <p:cNvSpPr/>
          <p:nvPr/>
        </p:nvSpPr>
        <p:spPr>
          <a:xfrm>
            <a:off x="1860997" y="3017012"/>
            <a:ext cx="92854" cy="349997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55"/>
          <p:cNvSpPr txBox="1"/>
          <p:nvPr/>
        </p:nvSpPr>
        <p:spPr>
          <a:xfrm>
            <a:off x="1963474" y="2218133"/>
            <a:ext cx="2339895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limited training data (model variance) and distribution shift</a:t>
            </a:r>
            <a:endParaRPr sz="1100"/>
          </a:p>
        </p:txBody>
      </p:sp>
      <p:cxnSp>
        <p:nvCxnSpPr>
          <p:cNvPr id="541" name="Google Shape;541;p55"/>
          <p:cNvCxnSpPr/>
          <p:nvPr/>
        </p:nvCxnSpPr>
        <p:spPr>
          <a:xfrm rot="10800000">
            <a:off x="4136568" y="3792736"/>
            <a:ext cx="295407" cy="43636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55"/>
          <p:cNvSpPr/>
          <p:nvPr/>
        </p:nvSpPr>
        <p:spPr>
          <a:xfrm>
            <a:off x="3963716" y="3546047"/>
            <a:ext cx="114346" cy="460405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3" name="Google Shape;543;p55"/>
          <p:cNvCxnSpPr/>
          <p:nvPr/>
        </p:nvCxnSpPr>
        <p:spPr>
          <a:xfrm flipH="1" rot="10800000">
            <a:off x="1983593" y="2835057"/>
            <a:ext cx="64729" cy="325524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55"/>
          <p:cNvSpPr txBox="1"/>
          <p:nvPr/>
        </p:nvSpPr>
        <p:spPr>
          <a:xfrm>
            <a:off x="4457700" y="4171809"/>
            <a:ext cx="2339895" cy="80791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Due to limited power of model (model bias) and unavoidable intrinsic error (Bayes optimal error)</a:t>
            </a:r>
            <a:endParaRPr sz="11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6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Overfitting and Underfitting</a:t>
            </a:r>
            <a:endParaRPr/>
          </a:p>
        </p:txBody>
      </p:sp>
      <p:sp>
        <p:nvSpPr>
          <p:cNvPr id="550" name="Google Shape;550;p56"/>
          <p:cNvSpPr txBox="1"/>
          <p:nvPr>
            <p:ph idx="1" type="body"/>
          </p:nvPr>
        </p:nvSpPr>
        <p:spPr>
          <a:xfrm>
            <a:off x="457200" y="742950"/>
            <a:ext cx="8229600" cy="3851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/>
              <a:t>Intuition: </a:t>
            </a:r>
            <a:r>
              <a:rPr lang="en" u="sng">
                <a:solidFill>
                  <a:schemeClr val="hlink"/>
                </a:solidFill>
                <a:hlinkClick r:id="rId3"/>
              </a:rPr>
              <a:t>Machine Learning Fundamentals: Bias and Variance</a:t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2350" y="1387475"/>
            <a:ext cx="2019300" cy="194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57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Usage Example: Deep Face</a:t>
            </a:r>
            <a:endParaRPr/>
          </a:p>
        </p:txBody>
      </p:sp>
      <p:sp>
        <p:nvSpPr>
          <p:cNvPr id="557" name="Google Shape;557;p57"/>
          <p:cNvSpPr txBox="1"/>
          <p:nvPr>
            <p:ph idx="1" type="body"/>
          </p:nvPr>
        </p:nvSpPr>
        <p:spPr>
          <a:xfrm>
            <a:off x="457200" y="3056784"/>
            <a:ext cx="8229600" cy="20295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/>
              <a:t>Detect facial features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/>
              <a:t>Align faces to be frontal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/>
              <a:t>Extract features using deep network while training classifier to label image into person (dataset based on employee faces)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AutoNum type="arabicPeriod"/>
            </a:pPr>
            <a:r>
              <a:rPr lang="en" sz="1200"/>
              <a:t>In testing, extract features from deep network and use nearest neighbor classifier to assign identity</a:t>
            </a:r>
            <a:endParaRPr/>
          </a:p>
          <a:p>
            <a:pPr indent="-1778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Performs similarly to humans in the LFW dataset (labeled faces in the wild)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Can be used to organize photo albums, identifying celebrities, or alert user when someone posts an image of them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If this is used in a commercial deployment, what might be some unintended consequences?</a:t>
            </a:r>
            <a:endParaRPr/>
          </a:p>
          <a:p>
            <a:pPr indent="-254000" lvl="0" marL="2540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</a:pPr>
            <a:r>
              <a:rPr lang="en" sz="1200"/>
              <a:t>This algorithm is used by Facebook (though with expanded training data)</a:t>
            </a:r>
            <a:endParaRPr/>
          </a:p>
        </p:txBody>
      </p:sp>
      <p:pic>
        <p:nvPicPr>
          <p:cNvPr id="558" name="Google Shape;55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50" y="1409257"/>
            <a:ext cx="6536531" cy="1647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57"/>
          <p:cNvPicPr preferRelativeResize="0"/>
          <p:nvPr/>
        </p:nvPicPr>
        <p:blipFill rotWithShape="1">
          <a:blip r:embed="rId4">
            <a:alphaModFix/>
          </a:blip>
          <a:srcRect b="0" l="0" r="0" t="35268"/>
          <a:stretch/>
        </p:blipFill>
        <p:spPr>
          <a:xfrm>
            <a:off x="455237" y="548025"/>
            <a:ext cx="4116763" cy="999007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57"/>
          <p:cNvSpPr txBox="1"/>
          <p:nvPr/>
        </p:nvSpPr>
        <p:spPr>
          <a:xfrm>
            <a:off x="4274496" y="1125905"/>
            <a:ext cx="1052211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CVPR 2014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58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KNN Summary</a:t>
            </a:r>
            <a:endParaRPr/>
          </a:p>
        </p:txBody>
      </p:sp>
      <p:sp>
        <p:nvSpPr>
          <p:cNvPr id="566" name="Google Shape;566;p58"/>
          <p:cNvSpPr txBox="1"/>
          <p:nvPr>
            <p:ph idx="1" type="body"/>
          </p:nvPr>
        </p:nvSpPr>
        <p:spPr>
          <a:xfrm>
            <a:off x="457200" y="742950"/>
            <a:ext cx="8229600" cy="428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62500" lnSpcReduction="20000"/>
          </a:bodyPr>
          <a:lstStyle/>
          <a:p>
            <a:pPr indent="-24765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Key Assumptions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Samples with similar input features will have similar output predictions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Depending on distance measure, may assume all dimensions are equally important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Model Parameters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Features and predictions of the training set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Designs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K (number of nearest neighbors to use for prediction)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How to combine multiple predictions if K &gt; 1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Feature design (selection, transformations)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Distance function (e.g. L2, L1, Mahalanobis)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When to Use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Few examples per class, many classes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Features are all roughly equally important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Training data available for prediction changes frequently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Can be applied to classification or regression, with discrete or continuous features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Most powerful when combined with feature learning</a:t>
            </a:r>
            <a:endParaRPr/>
          </a:p>
          <a:p>
            <a:pPr indent="-24765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When Not to Use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Many examples are available per class (feature learning with linear classifier may be better)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Limited storage (cannot store many training examples)</a:t>
            </a:r>
            <a:endParaRPr/>
          </a:p>
          <a:p>
            <a:pPr indent="-210343" lvl="1" marL="5588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Limited computation (linear model may be faster to evaluate)</a:t>
            </a:r>
            <a:endParaRPr/>
          </a:p>
          <a:p>
            <a:pPr indent="-1524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9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Things to remember</a:t>
            </a:r>
            <a:endParaRPr/>
          </a:p>
        </p:txBody>
      </p:sp>
      <p:sp>
        <p:nvSpPr>
          <p:cNvPr id="572" name="Google Shape;572;p59"/>
          <p:cNvSpPr txBox="1"/>
          <p:nvPr>
            <p:ph idx="1" type="body"/>
          </p:nvPr>
        </p:nvSpPr>
        <p:spPr>
          <a:xfrm>
            <a:off x="400050" y="685800"/>
            <a:ext cx="3657600" cy="44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20000"/>
          </a:bodyPr>
          <a:lstStyle/>
          <a:p>
            <a:pPr indent="-24892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Supervised machine learning involves:</a:t>
            </a:r>
            <a:endParaRPr/>
          </a:p>
          <a:p>
            <a:pPr indent="-390842" lvl="1" marL="685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"/>
              <a:t>Fitting parameters to a model using training data</a:t>
            </a:r>
            <a:endParaRPr/>
          </a:p>
          <a:p>
            <a:pPr indent="-390842" lvl="1" marL="685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"/>
              <a:t>Refining the model based on validation performance</a:t>
            </a:r>
            <a:endParaRPr/>
          </a:p>
          <a:p>
            <a:pPr indent="-390842" lvl="1" marL="685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"/>
              <a:t>Evaluating the final model on a held out test set</a:t>
            </a:r>
            <a:endParaRPr/>
          </a:p>
          <a:p>
            <a:pPr indent="-1651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4892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KNN is a simple but effective classifier/regressor that predicts the label of the most similar training example(s)</a:t>
            </a:r>
            <a:endParaRPr/>
          </a:p>
          <a:p>
            <a:pPr indent="-1651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4892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With more samples, fitting the training data becomes harder, but test error is expected to decrease</a:t>
            </a:r>
            <a:endParaRPr/>
          </a:p>
          <a:p>
            <a:pPr indent="-16510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4892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Test errors have many sources</a:t>
            </a:r>
            <a:endParaRPr/>
          </a:p>
          <a:p>
            <a:pPr indent="-213042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intrinsic to problem</a:t>
            </a:r>
            <a:endParaRPr/>
          </a:p>
          <a:p>
            <a:pPr indent="-213042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model bias / limited power</a:t>
            </a:r>
            <a:endParaRPr/>
          </a:p>
          <a:p>
            <a:pPr indent="-213042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model variance / limited training data</a:t>
            </a:r>
            <a:endParaRPr/>
          </a:p>
          <a:p>
            <a:pPr indent="-213042" lvl="1" marL="55880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"/>
              <a:t>differences in training and test distributions</a:t>
            </a:r>
            <a:endParaRPr/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48920" lvl="0" marL="25400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/>
              <a:t>Model design and fitting is just one part of a larger process in collecting data, developing, and deploying models</a:t>
            </a:r>
            <a:endParaRPr/>
          </a:p>
        </p:txBody>
      </p:sp>
      <p:pic>
        <p:nvPicPr>
          <p:cNvPr id="573" name="Google Shape;573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6779" y="656458"/>
            <a:ext cx="4316302" cy="109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4" name="Google Shape;574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70292" y="3314700"/>
            <a:ext cx="4470040" cy="1822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575" name="Google Shape;575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66779" y="1943100"/>
            <a:ext cx="1371600" cy="1179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60"/>
          <p:cNvSpPr txBox="1"/>
          <p:nvPr>
            <p:ph type="title"/>
          </p:nvPr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</a:t>
            </a:r>
            <a:endParaRPr/>
          </a:p>
        </p:txBody>
      </p:sp>
      <p:sp>
        <p:nvSpPr>
          <p:cNvPr id="581" name="Google Shape;581;p60"/>
          <p:cNvSpPr txBox="1"/>
          <p:nvPr>
            <p:ph idx="1" type="body"/>
          </p:nvPr>
        </p:nvSpPr>
        <p:spPr>
          <a:xfrm>
            <a:off x="457200" y="742950"/>
            <a:ext cx="8229600" cy="38516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54000" lvl="0" marL="254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Probabilistic models and Naïve Bayes</a:t>
            </a:r>
            <a:endParaRPr/>
          </a:p>
          <a:p>
            <a:pPr indent="-254000" lvl="0" marL="25400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"/>
              <a:t>Linear and Logistic Regression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1"/>
          <p:cNvSpPr txBox="1"/>
          <p:nvPr>
            <p:ph type="title"/>
          </p:nvPr>
        </p:nvSpPr>
        <p:spPr>
          <a:xfrm>
            <a:off x="311700" y="12203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